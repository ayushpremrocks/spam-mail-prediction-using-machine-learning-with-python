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sldIdLst>
    <p:sldId id="256" r:id="rId2"/>
    <p:sldId id="257" r:id="rId3"/>
    <p:sldId id="258" r:id="rId4"/>
    <p:sldId id="260" r:id="rId5"/>
    <p:sldId id="259" r:id="rId6"/>
    <p:sldId id="261" r:id="rId7"/>
    <p:sldId id="262" r:id="rId8"/>
    <p:sldId id="270" r:id="rId9"/>
    <p:sldId id="274" r:id="rId10"/>
    <p:sldId id="263" r:id="rId11"/>
    <p:sldId id="264" r:id="rId12"/>
    <p:sldId id="267" r:id="rId13"/>
    <p:sldId id="265" r:id="rId14"/>
    <p:sldId id="266" r:id="rId15"/>
    <p:sldId id="268" r:id="rId16"/>
    <p:sldId id="271" r:id="rId17"/>
    <p:sldId id="272" r:id="rId18"/>
    <p:sldId id="273"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8A59B1-2FA4-E9AD-F603-93F0772A0D04}" v="497" dt="2023-11-23T14:04:06.512"/>
    <p1510:client id="{0F90D0AF-017C-091C-2367-BB008B0214EE}" v="930" dt="2023-11-24T16:05:58.5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C40B9D64-62BC-48F7-A524-CF2E3E12059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18155C1-8A86-4743-96F6-88D912CFD246}">
      <dgm:prSet/>
      <dgm:spPr/>
      <dgm:t>
        <a:bodyPr/>
        <a:lstStyle/>
        <a:p>
          <a:r>
            <a:rPr lang="en-US"/>
            <a:t>In our digital age, emails are essential for communication and collaboration. They allow us to stay connected with friends, family, colleagues, and clients across the globe. Emails are also used to share important information, documents, and files.</a:t>
          </a:r>
        </a:p>
      </dgm:t>
    </dgm:pt>
    <dgm:pt modelId="{68FDA65E-2FDB-43A7-8851-394EAB4659AF}" type="parTrans" cxnId="{6468393D-4D05-49E5-B010-EC4A10BE2620}">
      <dgm:prSet/>
      <dgm:spPr/>
      <dgm:t>
        <a:bodyPr/>
        <a:lstStyle/>
        <a:p>
          <a:endParaRPr lang="en-US"/>
        </a:p>
      </dgm:t>
    </dgm:pt>
    <dgm:pt modelId="{730BF9A5-6982-49EA-B70B-B7C80CD02385}" type="sibTrans" cxnId="{6468393D-4D05-49E5-B010-EC4A10BE2620}">
      <dgm:prSet/>
      <dgm:spPr/>
      <dgm:t>
        <a:bodyPr/>
        <a:lstStyle/>
        <a:p>
          <a:endParaRPr lang="en-US"/>
        </a:p>
      </dgm:t>
    </dgm:pt>
    <dgm:pt modelId="{555FBCC4-BECF-4AC3-BF36-00C38B400B2F}">
      <dgm:prSet/>
      <dgm:spPr/>
      <dgm:t>
        <a:bodyPr/>
        <a:lstStyle/>
        <a:p>
          <a:r>
            <a:rPr lang="en-US"/>
            <a:t>While emails are incredibly useful, spam emails can be a major hindrance. Spam emails are unsolicited and unwanted emails, often sent in bulk for commercial purposes. They can also be dangerous, containing links to malware or phishing attacks.</a:t>
          </a:r>
        </a:p>
      </dgm:t>
    </dgm:pt>
    <dgm:pt modelId="{BBF4C9B5-8A14-46CE-BA8A-0B44D5BE28C0}" type="parTrans" cxnId="{D52B1C45-7A07-41C2-8640-76061B420143}">
      <dgm:prSet/>
      <dgm:spPr/>
      <dgm:t>
        <a:bodyPr/>
        <a:lstStyle/>
        <a:p>
          <a:endParaRPr lang="en-US"/>
        </a:p>
      </dgm:t>
    </dgm:pt>
    <dgm:pt modelId="{4C33D76F-F52A-4E3B-B742-37CE14F58426}" type="sibTrans" cxnId="{D52B1C45-7A07-41C2-8640-76061B420143}">
      <dgm:prSet/>
      <dgm:spPr/>
      <dgm:t>
        <a:bodyPr/>
        <a:lstStyle/>
        <a:p>
          <a:endParaRPr lang="en-US"/>
        </a:p>
      </dgm:t>
    </dgm:pt>
    <dgm:pt modelId="{512B2637-9095-4C6D-95DE-AD9E2595716A}">
      <dgm:prSet/>
      <dgm:spPr/>
      <dgm:t>
        <a:bodyPr/>
        <a:lstStyle/>
        <a:p>
          <a:r>
            <a:rPr lang="en-US"/>
            <a:t>Spam emails can waste our time, clog our inboxes, and even put our security at risk. That's why it's important to use an email spam classifier to filter out spam emails before they reach your inbox.</a:t>
          </a:r>
        </a:p>
      </dgm:t>
    </dgm:pt>
    <dgm:pt modelId="{18764957-8525-42DF-B454-F465A437FF6D}" type="parTrans" cxnId="{A5403CA3-ED36-46A7-BE27-6FE613D584D2}">
      <dgm:prSet/>
      <dgm:spPr/>
      <dgm:t>
        <a:bodyPr/>
        <a:lstStyle/>
        <a:p>
          <a:endParaRPr lang="en-US"/>
        </a:p>
      </dgm:t>
    </dgm:pt>
    <dgm:pt modelId="{B19873B6-5CC7-4BDB-B499-D7CEC792A217}" type="sibTrans" cxnId="{A5403CA3-ED36-46A7-BE27-6FE613D584D2}">
      <dgm:prSet/>
      <dgm:spPr/>
      <dgm:t>
        <a:bodyPr/>
        <a:lstStyle/>
        <a:p>
          <a:endParaRPr lang="en-US"/>
        </a:p>
      </dgm:t>
    </dgm:pt>
    <dgm:pt modelId="{D0CF7C88-09CA-47EE-AE90-AC3D14067D7F}" type="pres">
      <dgm:prSet presAssocID="{C40B9D64-62BC-48F7-A524-CF2E3E120594}" presName="linear" presStyleCnt="0">
        <dgm:presLayoutVars>
          <dgm:animLvl val="lvl"/>
          <dgm:resizeHandles val="exact"/>
        </dgm:presLayoutVars>
      </dgm:prSet>
      <dgm:spPr/>
    </dgm:pt>
    <dgm:pt modelId="{D03D7C11-3706-442C-8169-5A458B1F4D22}" type="pres">
      <dgm:prSet presAssocID="{C18155C1-8A86-4743-96F6-88D912CFD246}" presName="parentText" presStyleLbl="node1" presStyleIdx="0" presStyleCnt="3">
        <dgm:presLayoutVars>
          <dgm:chMax val="0"/>
          <dgm:bulletEnabled val="1"/>
        </dgm:presLayoutVars>
      </dgm:prSet>
      <dgm:spPr/>
    </dgm:pt>
    <dgm:pt modelId="{4085D583-069C-4F86-BC70-18281F87EF39}" type="pres">
      <dgm:prSet presAssocID="{730BF9A5-6982-49EA-B70B-B7C80CD02385}" presName="spacer" presStyleCnt="0"/>
      <dgm:spPr/>
    </dgm:pt>
    <dgm:pt modelId="{88C15DEF-1CC6-4EF3-BC94-117C77F489AF}" type="pres">
      <dgm:prSet presAssocID="{555FBCC4-BECF-4AC3-BF36-00C38B400B2F}" presName="parentText" presStyleLbl="node1" presStyleIdx="1" presStyleCnt="3">
        <dgm:presLayoutVars>
          <dgm:chMax val="0"/>
          <dgm:bulletEnabled val="1"/>
        </dgm:presLayoutVars>
      </dgm:prSet>
      <dgm:spPr/>
    </dgm:pt>
    <dgm:pt modelId="{EDDC45EB-29F6-44F3-AF20-4F28CE672C0B}" type="pres">
      <dgm:prSet presAssocID="{4C33D76F-F52A-4E3B-B742-37CE14F58426}" presName="spacer" presStyleCnt="0"/>
      <dgm:spPr/>
    </dgm:pt>
    <dgm:pt modelId="{DE6E9593-641A-46A0-9BD6-0CCC0DB97176}" type="pres">
      <dgm:prSet presAssocID="{512B2637-9095-4C6D-95DE-AD9E2595716A}" presName="parentText" presStyleLbl="node1" presStyleIdx="2" presStyleCnt="3">
        <dgm:presLayoutVars>
          <dgm:chMax val="0"/>
          <dgm:bulletEnabled val="1"/>
        </dgm:presLayoutVars>
      </dgm:prSet>
      <dgm:spPr/>
    </dgm:pt>
  </dgm:ptLst>
  <dgm:cxnLst>
    <dgm:cxn modelId="{94782007-6E06-4025-A7F9-7423194E6478}" type="presOf" srcId="{555FBCC4-BECF-4AC3-BF36-00C38B400B2F}" destId="{88C15DEF-1CC6-4EF3-BC94-117C77F489AF}" srcOrd="0" destOrd="0" presId="urn:microsoft.com/office/officeart/2005/8/layout/vList2"/>
    <dgm:cxn modelId="{6468393D-4D05-49E5-B010-EC4A10BE2620}" srcId="{C40B9D64-62BC-48F7-A524-CF2E3E120594}" destId="{C18155C1-8A86-4743-96F6-88D912CFD246}" srcOrd="0" destOrd="0" parTransId="{68FDA65E-2FDB-43A7-8851-394EAB4659AF}" sibTransId="{730BF9A5-6982-49EA-B70B-B7C80CD02385}"/>
    <dgm:cxn modelId="{D52B1C45-7A07-41C2-8640-76061B420143}" srcId="{C40B9D64-62BC-48F7-A524-CF2E3E120594}" destId="{555FBCC4-BECF-4AC3-BF36-00C38B400B2F}" srcOrd="1" destOrd="0" parTransId="{BBF4C9B5-8A14-46CE-BA8A-0B44D5BE28C0}" sibTransId="{4C33D76F-F52A-4E3B-B742-37CE14F58426}"/>
    <dgm:cxn modelId="{7C6D266B-D95C-4D11-AF9E-1A86406A8C3E}" type="presOf" srcId="{C18155C1-8A86-4743-96F6-88D912CFD246}" destId="{D03D7C11-3706-442C-8169-5A458B1F4D22}" srcOrd="0" destOrd="0" presId="urn:microsoft.com/office/officeart/2005/8/layout/vList2"/>
    <dgm:cxn modelId="{BB326278-4CC3-4B37-B3B6-D6C06706B482}" type="presOf" srcId="{512B2637-9095-4C6D-95DE-AD9E2595716A}" destId="{DE6E9593-641A-46A0-9BD6-0CCC0DB97176}" srcOrd="0" destOrd="0" presId="urn:microsoft.com/office/officeart/2005/8/layout/vList2"/>
    <dgm:cxn modelId="{A5403CA3-ED36-46A7-BE27-6FE613D584D2}" srcId="{C40B9D64-62BC-48F7-A524-CF2E3E120594}" destId="{512B2637-9095-4C6D-95DE-AD9E2595716A}" srcOrd="2" destOrd="0" parTransId="{18764957-8525-42DF-B454-F465A437FF6D}" sibTransId="{B19873B6-5CC7-4BDB-B499-D7CEC792A217}"/>
    <dgm:cxn modelId="{958194C0-19CA-448D-89FB-5F4ED5C7346A}" type="presOf" srcId="{C40B9D64-62BC-48F7-A524-CF2E3E120594}" destId="{D0CF7C88-09CA-47EE-AE90-AC3D14067D7F}" srcOrd="0" destOrd="0" presId="urn:microsoft.com/office/officeart/2005/8/layout/vList2"/>
    <dgm:cxn modelId="{5CD7801B-4F17-4D64-A4D1-BB3C20DC7AA4}" type="presParOf" srcId="{D0CF7C88-09CA-47EE-AE90-AC3D14067D7F}" destId="{D03D7C11-3706-442C-8169-5A458B1F4D22}" srcOrd="0" destOrd="0" presId="urn:microsoft.com/office/officeart/2005/8/layout/vList2"/>
    <dgm:cxn modelId="{39E55805-4B22-4473-99B8-93CCABE94ADA}" type="presParOf" srcId="{D0CF7C88-09CA-47EE-AE90-AC3D14067D7F}" destId="{4085D583-069C-4F86-BC70-18281F87EF39}" srcOrd="1" destOrd="0" presId="urn:microsoft.com/office/officeart/2005/8/layout/vList2"/>
    <dgm:cxn modelId="{0794B5D6-C3CE-4A66-B10E-62A67F0D7AEC}" type="presParOf" srcId="{D0CF7C88-09CA-47EE-AE90-AC3D14067D7F}" destId="{88C15DEF-1CC6-4EF3-BC94-117C77F489AF}" srcOrd="2" destOrd="0" presId="urn:microsoft.com/office/officeart/2005/8/layout/vList2"/>
    <dgm:cxn modelId="{F48EE8B9-B450-4157-A4A2-798DDCFDF071}" type="presParOf" srcId="{D0CF7C88-09CA-47EE-AE90-AC3D14067D7F}" destId="{EDDC45EB-29F6-44F3-AF20-4F28CE672C0B}" srcOrd="3" destOrd="0" presId="urn:microsoft.com/office/officeart/2005/8/layout/vList2"/>
    <dgm:cxn modelId="{140E2D97-72A5-412E-932F-1BFBD031348C}" type="presParOf" srcId="{D0CF7C88-09CA-47EE-AE90-AC3D14067D7F}" destId="{DE6E9593-641A-46A0-9BD6-0CCC0DB9717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20A31B-49FA-454F-A8D0-C3560E179B8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1DE5E3C-3664-4039-BA63-784CC18DAEF6}">
      <dgm:prSet/>
      <dgm:spPr/>
      <dgm:t>
        <a:bodyPr/>
        <a:lstStyle/>
        <a:p>
          <a:r>
            <a:rPr lang="en-US" b="1"/>
            <a:t>Industry Adoption and Integration: </a:t>
          </a:r>
          <a:r>
            <a:rPr lang="en-US"/>
            <a:t>The robustness, accuracy, and practicality demonstrated by our machine learning-based spam detection system position it as a viable option for organizations seeking advanced and adaptive email security solutions.</a:t>
          </a:r>
        </a:p>
      </dgm:t>
    </dgm:pt>
    <dgm:pt modelId="{AAFD2910-9925-40A8-A9EF-FE3404C6548E}" type="parTrans" cxnId="{A0BF4F39-0B77-4A7D-848F-7E8FEDB145CE}">
      <dgm:prSet/>
      <dgm:spPr/>
      <dgm:t>
        <a:bodyPr/>
        <a:lstStyle/>
        <a:p>
          <a:endParaRPr lang="en-US"/>
        </a:p>
      </dgm:t>
    </dgm:pt>
    <dgm:pt modelId="{A25CCCEB-491C-4A21-91E8-69967F283F59}" type="sibTrans" cxnId="{A0BF4F39-0B77-4A7D-848F-7E8FEDB145CE}">
      <dgm:prSet/>
      <dgm:spPr/>
      <dgm:t>
        <a:bodyPr/>
        <a:lstStyle/>
        <a:p>
          <a:endParaRPr lang="en-US"/>
        </a:p>
      </dgm:t>
    </dgm:pt>
    <dgm:pt modelId="{452D3545-EF2F-4545-9168-B4E57C3FA5AE}">
      <dgm:prSet/>
      <dgm:spPr/>
      <dgm:t>
        <a:bodyPr/>
        <a:lstStyle/>
        <a:p>
          <a:r>
            <a:rPr lang="en-US" b="1"/>
            <a:t>Further Refinement and Model Updates: </a:t>
          </a:r>
          <a:r>
            <a:rPr lang="en-US"/>
            <a:t> Future research can focus on continuous model updates, leveraging ongoing insights from user feedback, real-world performance data, and emerging spam tactics.</a:t>
          </a:r>
        </a:p>
      </dgm:t>
    </dgm:pt>
    <dgm:pt modelId="{EF90C4C5-CE69-4529-A967-5061F7A629FF}" type="parTrans" cxnId="{809715B6-4CC3-40BD-8C62-113D9EF4F0E1}">
      <dgm:prSet/>
      <dgm:spPr/>
      <dgm:t>
        <a:bodyPr/>
        <a:lstStyle/>
        <a:p>
          <a:endParaRPr lang="en-US"/>
        </a:p>
      </dgm:t>
    </dgm:pt>
    <dgm:pt modelId="{6F391A61-ECA8-4F72-9108-CF3F63C43E68}" type="sibTrans" cxnId="{809715B6-4CC3-40BD-8C62-113D9EF4F0E1}">
      <dgm:prSet/>
      <dgm:spPr/>
      <dgm:t>
        <a:bodyPr/>
        <a:lstStyle/>
        <a:p>
          <a:endParaRPr lang="en-US"/>
        </a:p>
      </dgm:t>
    </dgm:pt>
    <dgm:pt modelId="{20325598-090C-49B4-B091-CC696F68CB5F}">
      <dgm:prSet/>
      <dgm:spPr/>
      <dgm:t>
        <a:bodyPr/>
        <a:lstStyle/>
        <a:p>
          <a:r>
            <a:rPr lang="en-US" b="1"/>
            <a:t>Collaboration with Email Service Providers: </a:t>
          </a:r>
          <a:r>
            <a:rPr lang="en-US"/>
            <a:t>Collaborative efforts with email service providers can facilitate the seamless integration of our spam detection system into widely-used email platforms. Such collaborations can enhance the accessibility and reach of our machine learning-based solution.</a:t>
          </a:r>
        </a:p>
      </dgm:t>
    </dgm:pt>
    <dgm:pt modelId="{F8F415DC-A10B-4343-ADF7-CA7256C37A13}" type="parTrans" cxnId="{B15504E8-B4F1-4C9D-BD67-50B72A05040E}">
      <dgm:prSet/>
      <dgm:spPr/>
      <dgm:t>
        <a:bodyPr/>
        <a:lstStyle/>
        <a:p>
          <a:endParaRPr lang="en-US"/>
        </a:p>
      </dgm:t>
    </dgm:pt>
    <dgm:pt modelId="{F85F14C4-6941-4AA6-B64F-07D43DC826DF}" type="sibTrans" cxnId="{B15504E8-B4F1-4C9D-BD67-50B72A05040E}">
      <dgm:prSet/>
      <dgm:spPr/>
      <dgm:t>
        <a:bodyPr/>
        <a:lstStyle/>
        <a:p>
          <a:endParaRPr lang="en-US"/>
        </a:p>
      </dgm:t>
    </dgm:pt>
    <dgm:pt modelId="{09805037-A1F0-4B23-BA40-1579BA82AE90}">
      <dgm:prSet/>
      <dgm:spPr/>
      <dgm:t>
        <a:bodyPr/>
        <a:lstStyle/>
        <a:p>
          <a:r>
            <a:rPr lang="en-US" b="1"/>
            <a:t>Exploring Advanced Machine Learning Techniques: </a:t>
          </a:r>
          <a:r>
            <a:rPr lang="en-US"/>
            <a:t>As machine learning continues to evolve, exploring advanced techniques, such as deep learning architectures and ensemble methods, holds promise for further improving the sophistication and effectiveness of spam detection models.</a:t>
          </a:r>
        </a:p>
      </dgm:t>
    </dgm:pt>
    <dgm:pt modelId="{27AA3140-6F19-4D4D-9261-27FFE62C06AC}" type="parTrans" cxnId="{3D714C02-56F2-4730-8748-35573C6EF82B}">
      <dgm:prSet/>
      <dgm:spPr/>
      <dgm:t>
        <a:bodyPr/>
        <a:lstStyle/>
        <a:p>
          <a:endParaRPr lang="en-US"/>
        </a:p>
      </dgm:t>
    </dgm:pt>
    <dgm:pt modelId="{DFC1CD7B-FB02-4BB3-88D5-08C14DD63B50}" type="sibTrans" cxnId="{3D714C02-56F2-4730-8748-35573C6EF82B}">
      <dgm:prSet/>
      <dgm:spPr/>
      <dgm:t>
        <a:bodyPr/>
        <a:lstStyle/>
        <a:p>
          <a:endParaRPr lang="en-US"/>
        </a:p>
      </dgm:t>
    </dgm:pt>
    <dgm:pt modelId="{A237F750-E1EE-4EC7-8940-D3EDB3C17FF0}" type="pres">
      <dgm:prSet presAssocID="{7620A31B-49FA-454F-A8D0-C3560E179B82}" presName="root" presStyleCnt="0">
        <dgm:presLayoutVars>
          <dgm:dir/>
          <dgm:resizeHandles val="exact"/>
        </dgm:presLayoutVars>
      </dgm:prSet>
      <dgm:spPr/>
    </dgm:pt>
    <dgm:pt modelId="{86813CCD-7309-416A-8085-F22858906AB5}" type="pres">
      <dgm:prSet presAssocID="{21DE5E3C-3664-4039-BA63-784CC18DAEF6}" presName="compNode" presStyleCnt="0"/>
      <dgm:spPr/>
    </dgm:pt>
    <dgm:pt modelId="{1450FEFD-E887-4CCD-9EF7-7123D829103D}" type="pres">
      <dgm:prSet presAssocID="{21DE5E3C-3664-4039-BA63-784CC18DAEF6}" presName="bgRect" presStyleLbl="bgShp" presStyleIdx="0" presStyleCnt="4"/>
      <dgm:spPr/>
    </dgm:pt>
    <dgm:pt modelId="{F9A31807-2992-4659-9E55-6518875672DE}" type="pres">
      <dgm:prSet presAssocID="{21DE5E3C-3664-4039-BA63-784CC18DAEF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0B52DB33-DE2A-4D7F-8D5D-32BCB9D67816}" type="pres">
      <dgm:prSet presAssocID="{21DE5E3C-3664-4039-BA63-784CC18DAEF6}" presName="spaceRect" presStyleCnt="0"/>
      <dgm:spPr/>
    </dgm:pt>
    <dgm:pt modelId="{223B7309-99F6-471C-AFBA-B7644E07C92C}" type="pres">
      <dgm:prSet presAssocID="{21DE5E3C-3664-4039-BA63-784CC18DAEF6}" presName="parTx" presStyleLbl="revTx" presStyleIdx="0" presStyleCnt="4">
        <dgm:presLayoutVars>
          <dgm:chMax val="0"/>
          <dgm:chPref val="0"/>
        </dgm:presLayoutVars>
      </dgm:prSet>
      <dgm:spPr/>
    </dgm:pt>
    <dgm:pt modelId="{7B62FD08-9366-4F84-AE22-09CD5E83DDFC}" type="pres">
      <dgm:prSet presAssocID="{A25CCCEB-491C-4A21-91E8-69967F283F59}" presName="sibTrans" presStyleCnt="0"/>
      <dgm:spPr/>
    </dgm:pt>
    <dgm:pt modelId="{88C3F921-FB68-4C7C-8B95-097F33161CF7}" type="pres">
      <dgm:prSet presAssocID="{452D3545-EF2F-4545-9168-B4E57C3FA5AE}" presName="compNode" presStyleCnt="0"/>
      <dgm:spPr/>
    </dgm:pt>
    <dgm:pt modelId="{11EB5A96-B132-4949-9F22-0FEC798F937F}" type="pres">
      <dgm:prSet presAssocID="{452D3545-EF2F-4545-9168-B4E57C3FA5AE}" presName="bgRect" presStyleLbl="bgShp" presStyleIdx="1" presStyleCnt="4"/>
      <dgm:spPr/>
    </dgm:pt>
    <dgm:pt modelId="{54A70817-904B-4D9E-B8CA-FC86D251EF97}" type="pres">
      <dgm:prSet presAssocID="{452D3545-EF2F-4545-9168-B4E57C3FA5A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peat"/>
        </a:ext>
      </dgm:extLst>
    </dgm:pt>
    <dgm:pt modelId="{4722AB21-66CB-4A76-990A-2E46311EB913}" type="pres">
      <dgm:prSet presAssocID="{452D3545-EF2F-4545-9168-B4E57C3FA5AE}" presName="spaceRect" presStyleCnt="0"/>
      <dgm:spPr/>
    </dgm:pt>
    <dgm:pt modelId="{6DBBC475-168E-4100-B628-430F2CED1D54}" type="pres">
      <dgm:prSet presAssocID="{452D3545-EF2F-4545-9168-B4E57C3FA5AE}" presName="parTx" presStyleLbl="revTx" presStyleIdx="1" presStyleCnt="4">
        <dgm:presLayoutVars>
          <dgm:chMax val="0"/>
          <dgm:chPref val="0"/>
        </dgm:presLayoutVars>
      </dgm:prSet>
      <dgm:spPr/>
    </dgm:pt>
    <dgm:pt modelId="{FB50FACB-D0DA-415A-808D-94FA849049E2}" type="pres">
      <dgm:prSet presAssocID="{6F391A61-ECA8-4F72-9108-CF3F63C43E68}" presName="sibTrans" presStyleCnt="0"/>
      <dgm:spPr/>
    </dgm:pt>
    <dgm:pt modelId="{E86B7DEE-60B6-4225-8DB2-C27B89721C1F}" type="pres">
      <dgm:prSet presAssocID="{20325598-090C-49B4-B091-CC696F68CB5F}" presName="compNode" presStyleCnt="0"/>
      <dgm:spPr/>
    </dgm:pt>
    <dgm:pt modelId="{DF9E142D-404A-4EBB-98A7-D42F22ADF70D}" type="pres">
      <dgm:prSet presAssocID="{20325598-090C-49B4-B091-CC696F68CB5F}" presName="bgRect" presStyleLbl="bgShp" presStyleIdx="2" presStyleCnt="4"/>
      <dgm:spPr/>
    </dgm:pt>
    <dgm:pt modelId="{B252D826-B213-4DBC-B2FC-EF895D5E1E65}" type="pres">
      <dgm:prSet presAssocID="{20325598-090C-49B4-B091-CC696F68CB5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6D22AB79-AD64-48C0-9102-872D78AC877F}" type="pres">
      <dgm:prSet presAssocID="{20325598-090C-49B4-B091-CC696F68CB5F}" presName="spaceRect" presStyleCnt="0"/>
      <dgm:spPr/>
    </dgm:pt>
    <dgm:pt modelId="{26B44364-F6B7-4C3A-B979-669FA651BC54}" type="pres">
      <dgm:prSet presAssocID="{20325598-090C-49B4-B091-CC696F68CB5F}" presName="parTx" presStyleLbl="revTx" presStyleIdx="2" presStyleCnt="4">
        <dgm:presLayoutVars>
          <dgm:chMax val="0"/>
          <dgm:chPref val="0"/>
        </dgm:presLayoutVars>
      </dgm:prSet>
      <dgm:spPr/>
    </dgm:pt>
    <dgm:pt modelId="{1C2EB956-444F-4BB1-AC02-4F0AF8401AEF}" type="pres">
      <dgm:prSet presAssocID="{F85F14C4-6941-4AA6-B64F-07D43DC826DF}" presName="sibTrans" presStyleCnt="0"/>
      <dgm:spPr/>
    </dgm:pt>
    <dgm:pt modelId="{E637CF27-36A1-4379-85DC-32DDF6E8A584}" type="pres">
      <dgm:prSet presAssocID="{09805037-A1F0-4B23-BA40-1579BA82AE90}" presName="compNode" presStyleCnt="0"/>
      <dgm:spPr/>
    </dgm:pt>
    <dgm:pt modelId="{6E432971-E8D3-4442-9DDB-538435692EE4}" type="pres">
      <dgm:prSet presAssocID="{09805037-A1F0-4B23-BA40-1579BA82AE90}" presName="bgRect" presStyleLbl="bgShp" presStyleIdx="3" presStyleCnt="4"/>
      <dgm:spPr/>
    </dgm:pt>
    <dgm:pt modelId="{8CDD7AFA-0B8A-4B4B-B603-18CCF30825FE}" type="pres">
      <dgm:prSet presAssocID="{09805037-A1F0-4B23-BA40-1579BA82AE9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Arrow Circle"/>
        </a:ext>
      </dgm:extLst>
    </dgm:pt>
    <dgm:pt modelId="{2A14A107-81C8-4D62-A86C-161786BD4A04}" type="pres">
      <dgm:prSet presAssocID="{09805037-A1F0-4B23-BA40-1579BA82AE90}" presName="spaceRect" presStyleCnt="0"/>
      <dgm:spPr/>
    </dgm:pt>
    <dgm:pt modelId="{CF244C97-79A4-4362-B955-CE3283BD40B4}" type="pres">
      <dgm:prSet presAssocID="{09805037-A1F0-4B23-BA40-1579BA82AE90}" presName="parTx" presStyleLbl="revTx" presStyleIdx="3" presStyleCnt="4">
        <dgm:presLayoutVars>
          <dgm:chMax val="0"/>
          <dgm:chPref val="0"/>
        </dgm:presLayoutVars>
      </dgm:prSet>
      <dgm:spPr/>
    </dgm:pt>
  </dgm:ptLst>
  <dgm:cxnLst>
    <dgm:cxn modelId="{3D714C02-56F2-4730-8748-35573C6EF82B}" srcId="{7620A31B-49FA-454F-A8D0-C3560E179B82}" destId="{09805037-A1F0-4B23-BA40-1579BA82AE90}" srcOrd="3" destOrd="0" parTransId="{27AA3140-6F19-4D4D-9261-27FFE62C06AC}" sibTransId="{DFC1CD7B-FB02-4BB3-88D5-08C14DD63B50}"/>
    <dgm:cxn modelId="{AB790320-445C-4977-8920-AD2C44851055}" type="presOf" srcId="{20325598-090C-49B4-B091-CC696F68CB5F}" destId="{26B44364-F6B7-4C3A-B979-669FA651BC54}" srcOrd="0" destOrd="0" presId="urn:microsoft.com/office/officeart/2018/2/layout/IconVerticalSolidList"/>
    <dgm:cxn modelId="{A0BF4F39-0B77-4A7D-848F-7E8FEDB145CE}" srcId="{7620A31B-49FA-454F-A8D0-C3560E179B82}" destId="{21DE5E3C-3664-4039-BA63-784CC18DAEF6}" srcOrd="0" destOrd="0" parTransId="{AAFD2910-9925-40A8-A9EF-FE3404C6548E}" sibTransId="{A25CCCEB-491C-4A21-91E8-69967F283F59}"/>
    <dgm:cxn modelId="{411C6D7A-078E-4F4E-B7E1-FAF0ECB57C6D}" type="presOf" srcId="{452D3545-EF2F-4545-9168-B4E57C3FA5AE}" destId="{6DBBC475-168E-4100-B628-430F2CED1D54}" srcOrd="0" destOrd="0" presId="urn:microsoft.com/office/officeart/2018/2/layout/IconVerticalSolidList"/>
    <dgm:cxn modelId="{809715B6-4CC3-40BD-8C62-113D9EF4F0E1}" srcId="{7620A31B-49FA-454F-A8D0-C3560E179B82}" destId="{452D3545-EF2F-4545-9168-B4E57C3FA5AE}" srcOrd="1" destOrd="0" parTransId="{EF90C4C5-CE69-4529-A967-5061F7A629FF}" sibTransId="{6F391A61-ECA8-4F72-9108-CF3F63C43E68}"/>
    <dgm:cxn modelId="{8C0F49DD-EAC5-43BC-8947-BA988E4D16CF}" type="presOf" srcId="{21DE5E3C-3664-4039-BA63-784CC18DAEF6}" destId="{223B7309-99F6-471C-AFBA-B7644E07C92C}" srcOrd="0" destOrd="0" presId="urn:microsoft.com/office/officeart/2018/2/layout/IconVerticalSolidList"/>
    <dgm:cxn modelId="{6AB9B7E3-BE89-4620-8CB1-2CE4B0723D80}" type="presOf" srcId="{09805037-A1F0-4B23-BA40-1579BA82AE90}" destId="{CF244C97-79A4-4362-B955-CE3283BD40B4}" srcOrd="0" destOrd="0" presId="urn:microsoft.com/office/officeart/2018/2/layout/IconVerticalSolidList"/>
    <dgm:cxn modelId="{3DD85EE4-70D6-4265-8F28-0C37C66AFA82}" type="presOf" srcId="{7620A31B-49FA-454F-A8D0-C3560E179B82}" destId="{A237F750-E1EE-4EC7-8940-D3EDB3C17FF0}" srcOrd="0" destOrd="0" presId="urn:microsoft.com/office/officeart/2018/2/layout/IconVerticalSolidList"/>
    <dgm:cxn modelId="{B15504E8-B4F1-4C9D-BD67-50B72A05040E}" srcId="{7620A31B-49FA-454F-A8D0-C3560E179B82}" destId="{20325598-090C-49B4-B091-CC696F68CB5F}" srcOrd="2" destOrd="0" parTransId="{F8F415DC-A10B-4343-ADF7-CA7256C37A13}" sibTransId="{F85F14C4-6941-4AA6-B64F-07D43DC826DF}"/>
    <dgm:cxn modelId="{8AD07CDF-B319-471E-9203-BFB0366001A4}" type="presParOf" srcId="{A237F750-E1EE-4EC7-8940-D3EDB3C17FF0}" destId="{86813CCD-7309-416A-8085-F22858906AB5}" srcOrd="0" destOrd="0" presId="urn:microsoft.com/office/officeart/2018/2/layout/IconVerticalSolidList"/>
    <dgm:cxn modelId="{206CB75D-F83F-48DC-85A4-01A6467E820E}" type="presParOf" srcId="{86813CCD-7309-416A-8085-F22858906AB5}" destId="{1450FEFD-E887-4CCD-9EF7-7123D829103D}" srcOrd="0" destOrd="0" presId="urn:microsoft.com/office/officeart/2018/2/layout/IconVerticalSolidList"/>
    <dgm:cxn modelId="{AD4C7886-8103-4AAE-9F11-6F27150D6BFC}" type="presParOf" srcId="{86813CCD-7309-416A-8085-F22858906AB5}" destId="{F9A31807-2992-4659-9E55-6518875672DE}" srcOrd="1" destOrd="0" presId="urn:microsoft.com/office/officeart/2018/2/layout/IconVerticalSolidList"/>
    <dgm:cxn modelId="{69100B16-1EC0-4719-B875-4BA55F7B3679}" type="presParOf" srcId="{86813CCD-7309-416A-8085-F22858906AB5}" destId="{0B52DB33-DE2A-4D7F-8D5D-32BCB9D67816}" srcOrd="2" destOrd="0" presId="urn:microsoft.com/office/officeart/2018/2/layout/IconVerticalSolidList"/>
    <dgm:cxn modelId="{39730E84-1CD6-4437-9419-97210DAFEAAA}" type="presParOf" srcId="{86813CCD-7309-416A-8085-F22858906AB5}" destId="{223B7309-99F6-471C-AFBA-B7644E07C92C}" srcOrd="3" destOrd="0" presId="urn:microsoft.com/office/officeart/2018/2/layout/IconVerticalSolidList"/>
    <dgm:cxn modelId="{DC361BF9-551F-4D48-97F3-28DDB8BCF468}" type="presParOf" srcId="{A237F750-E1EE-4EC7-8940-D3EDB3C17FF0}" destId="{7B62FD08-9366-4F84-AE22-09CD5E83DDFC}" srcOrd="1" destOrd="0" presId="urn:microsoft.com/office/officeart/2018/2/layout/IconVerticalSolidList"/>
    <dgm:cxn modelId="{BBF5FDCC-2FB4-445A-8993-703861550216}" type="presParOf" srcId="{A237F750-E1EE-4EC7-8940-D3EDB3C17FF0}" destId="{88C3F921-FB68-4C7C-8B95-097F33161CF7}" srcOrd="2" destOrd="0" presId="urn:microsoft.com/office/officeart/2018/2/layout/IconVerticalSolidList"/>
    <dgm:cxn modelId="{AE177D07-6964-4C6E-8289-4D0C304C1060}" type="presParOf" srcId="{88C3F921-FB68-4C7C-8B95-097F33161CF7}" destId="{11EB5A96-B132-4949-9F22-0FEC798F937F}" srcOrd="0" destOrd="0" presId="urn:microsoft.com/office/officeart/2018/2/layout/IconVerticalSolidList"/>
    <dgm:cxn modelId="{008CC72C-B2EC-4D65-A461-BB7DE0CB7868}" type="presParOf" srcId="{88C3F921-FB68-4C7C-8B95-097F33161CF7}" destId="{54A70817-904B-4D9E-B8CA-FC86D251EF97}" srcOrd="1" destOrd="0" presId="urn:microsoft.com/office/officeart/2018/2/layout/IconVerticalSolidList"/>
    <dgm:cxn modelId="{FF50709A-6CDF-4BA7-B1D2-7F8267DF96CE}" type="presParOf" srcId="{88C3F921-FB68-4C7C-8B95-097F33161CF7}" destId="{4722AB21-66CB-4A76-990A-2E46311EB913}" srcOrd="2" destOrd="0" presId="urn:microsoft.com/office/officeart/2018/2/layout/IconVerticalSolidList"/>
    <dgm:cxn modelId="{143C7D88-9DF6-4E42-BBD8-AA00EF7E4171}" type="presParOf" srcId="{88C3F921-FB68-4C7C-8B95-097F33161CF7}" destId="{6DBBC475-168E-4100-B628-430F2CED1D54}" srcOrd="3" destOrd="0" presId="urn:microsoft.com/office/officeart/2018/2/layout/IconVerticalSolidList"/>
    <dgm:cxn modelId="{20155727-7CD1-43C8-9806-5D426DA0CEEA}" type="presParOf" srcId="{A237F750-E1EE-4EC7-8940-D3EDB3C17FF0}" destId="{FB50FACB-D0DA-415A-808D-94FA849049E2}" srcOrd="3" destOrd="0" presId="urn:microsoft.com/office/officeart/2018/2/layout/IconVerticalSolidList"/>
    <dgm:cxn modelId="{C2787716-61BB-41EF-87FE-072E1953E7A2}" type="presParOf" srcId="{A237F750-E1EE-4EC7-8940-D3EDB3C17FF0}" destId="{E86B7DEE-60B6-4225-8DB2-C27B89721C1F}" srcOrd="4" destOrd="0" presId="urn:microsoft.com/office/officeart/2018/2/layout/IconVerticalSolidList"/>
    <dgm:cxn modelId="{32A99A7F-D899-4701-BFA5-B3C41535D7EB}" type="presParOf" srcId="{E86B7DEE-60B6-4225-8DB2-C27B89721C1F}" destId="{DF9E142D-404A-4EBB-98A7-D42F22ADF70D}" srcOrd="0" destOrd="0" presId="urn:microsoft.com/office/officeart/2018/2/layout/IconVerticalSolidList"/>
    <dgm:cxn modelId="{E0A447B2-73C1-4E6F-A75F-35019112BC6F}" type="presParOf" srcId="{E86B7DEE-60B6-4225-8DB2-C27B89721C1F}" destId="{B252D826-B213-4DBC-B2FC-EF895D5E1E65}" srcOrd="1" destOrd="0" presId="urn:microsoft.com/office/officeart/2018/2/layout/IconVerticalSolidList"/>
    <dgm:cxn modelId="{694ACBE8-5C1F-4535-9AC8-D1A7F900D913}" type="presParOf" srcId="{E86B7DEE-60B6-4225-8DB2-C27B89721C1F}" destId="{6D22AB79-AD64-48C0-9102-872D78AC877F}" srcOrd="2" destOrd="0" presId="urn:microsoft.com/office/officeart/2018/2/layout/IconVerticalSolidList"/>
    <dgm:cxn modelId="{6EA71B8D-7822-43E4-9FB5-464000E31AD0}" type="presParOf" srcId="{E86B7DEE-60B6-4225-8DB2-C27B89721C1F}" destId="{26B44364-F6B7-4C3A-B979-669FA651BC54}" srcOrd="3" destOrd="0" presId="urn:microsoft.com/office/officeart/2018/2/layout/IconVerticalSolidList"/>
    <dgm:cxn modelId="{B33080F8-E28F-4E2E-B766-792671FC553C}" type="presParOf" srcId="{A237F750-E1EE-4EC7-8940-D3EDB3C17FF0}" destId="{1C2EB956-444F-4BB1-AC02-4F0AF8401AEF}" srcOrd="5" destOrd="0" presId="urn:microsoft.com/office/officeart/2018/2/layout/IconVerticalSolidList"/>
    <dgm:cxn modelId="{E1272AB7-D222-4742-950C-A389E3497487}" type="presParOf" srcId="{A237F750-E1EE-4EC7-8940-D3EDB3C17FF0}" destId="{E637CF27-36A1-4379-85DC-32DDF6E8A584}" srcOrd="6" destOrd="0" presId="urn:microsoft.com/office/officeart/2018/2/layout/IconVerticalSolidList"/>
    <dgm:cxn modelId="{B4511487-E193-415A-9814-46B11FD14FD1}" type="presParOf" srcId="{E637CF27-36A1-4379-85DC-32DDF6E8A584}" destId="{6E432971-E8D3-4442-9DDB-538435692EE4}" srcOrd="0" destOrd="0" presId="urn:microsoft.com/office/officeart/2018/2/layout/IconVerticalSolidList"/>
    <dgm:cxn modelId="{AC6206C8-C05A-44E9-8D44-E06EBCF52A41}" type="presParOf" srcId="{E637CF27-36A1-4379-85DC-32DDF6E8A584}" destId="{8CDD7AFA-0B8A-4B4B-B603-18CCF30825FE}" srcOrd="1" destOrd="0" presId="urn:microsoft.com/office/officeart/2018/2/layout/IconVerticalSolidList"/>
    <dgm:cxn modelId="{0A77015B-A3A9-4C09-AFAC-C226D500292B}" type="presParOf" srcId="{E637CF27-36A1-4379-85DC-32DDF6E8A584}" destId="{2A14A107-81C8-4D62-A86C-161786BD4A04}" srcOrd="2" destOrd="0" presId="urn:microsoft.com/office/officeart/2018/2/layout/IconVerticalSolidList"/>
    <dgm:cxn modelId="{D1E5D7EC-1860-4AB4-B96B-04F151A516D2}" type="presParOf" srcId="{E637CF27-36A1-4379-85DC-32DDF6E8A584}" destId="{CF244C97-79A4-4362-B955-CE3283BD40B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3D7C11-3706-442C-8169-5A458B1F4D22}">
      <dsp:nvSpPr>
        <dsp:cNvPr id="0" name=""/>
        <dsp:cNvSpPr/>
      </dsp:nvSpPr>
      <dsp:spPr>
        <a:xfrm>
          <a:off x="0" y="297638"/>
          <a:ext cx="10515600" cy="12097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In our digital age, emails are essential for communication and collaboration. They allow us to stay connected with friends, family, colleagues, and clients across the globe. Emails are also used to share important information, documents, and files.</a:t>
          </a:r>
        </a:p>
      </dsp:txBody>
      <dsp:txXfrm>
        <a:off x="59057" y="356695"/>
        <a:ext cx="10397486" cy="1091666"/>
      </dsp:txXfrm>
    </dsp:sp>
    <dsp:sp modelId="{88C15DEF-1CC6-4EF3-BC94-117C77F489AF}">
      <dsp:nvSpPr>
        <dsp:cNvPr id="0" name=""/>
        <dsp:cNvSpPr/>
      </dsp:nvSpPr>
      <dsp:spPr>
        <a:xfrm>
          <a:off x="0" y="1570778"/>
          <a:ext cx="10515600" cy="12097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While emails are incredibly useful, spam emails can be a major hindrance. Spam emails are unsolicited and unwanted emails, often sent in bulk for commercial purposes. They can also be dangerous, containing links to malware or phishing attacks.</a:t>
          </a:r>
        </a:p>
      </dsp:txBody>
      <dsp:txXfrm>
        <a:off x="59057" y="1629835"/>
        <a:ext cx="10397486" cy="1091666"/>
      </dsp:txXfrm>
    </dsp:sp>
    <dsp:sp modelId="{DE6E9593-641A-46A0-9BD6-0CCC0DB97176}">
      <dsp:nvSpPr>
        <dsp:cNvPr id="0" name=""/>
        <dsp:cNvSpPr/>
      </dsp:nvSpPr>
      <dsp:spPr>
        <a:xfrm>
          <a:off x="0" y="2843919"/>
          <a:ext cx="10515600" cy="12097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Spam emails can waste our time, clog our inboxes, and even put our security at risk. That's why it's important to use an email spam classifier to filter out spam emails before they reach your inbox.</a:t>
          </a:r>
        </a:p>
      </dsp:txBody>
      <dsp:txXfrm>
        <a:off x="59057" y="2902976"/>
        <a:ext cx="10397486" cy="10916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50FEFD-E887-4CCD-9EF7-7123D829103D}">
      <dsp:nvSpPr>
        <dsp:cNvPr id="0" name=""/>
        <dsp:cNvSpPr/>
      </dsp:nvSpPr>
      <dsp:spPr>
        <a:xfrm>
          <a:off x="0" y="1805"/>
          <a:ext cx="10515600" cy="91531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A31807-2992-4659-9E55-6518875672DE}">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3B7309-99F6-471C-AFBA-B7644E07C92C}">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b="1" kern="1200"/>
            <a:t>Industry Adoption and Integration: </a:t>
          </a:r>
          <a:r>
            <a:rPr lang="en-US" sz="1700" kern="1200"/>
            <a:t>The robustness, accuracy, and practicality demonstrated by our machine learning-based spam detection system position it as a viable option for organizations seeking advanced and adaptive email security solutions.</a:t>
          </a:r>
        </a:p>
      </dsp:txBody>
      <dsp:txXfrm>
        <a:off x="1057183" y="1805"/>
        <a:ext cx="9458416" cy="915310"/>
      </dsp:txXfrm>
    </dsp:sp>
    <dsp:sp modelId="{11EB5A96-B132-4949-9F22-0FEC798F937F}">
      <dsp:nvSpPr>
        <dsp:cNvPr id="0" name=""/>
        <dsp:cNvSpPr/>
      </dsp:nvSpPr>
      <dsp:spPr>
        <a:xfrm>
          <a:off x="0" y="1145944"/>
          <a:ext cx="10515600" cy="91531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A70817-904B-4D9E-B8CA-FC86D251EF97}">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BBC475-168E-4100-B628-430F2CED1D54}">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b="1" kern="1200"/>
            <a:t>Further Refinement and Model Updates: </a:t>
          </a:r>
          <a:r>
            <a:rPr lang="en-US" sz="1700" kern="1200"/>
            <a:t> Future research can focus on continuous model updates, leveraging ongoing insights from user feedback, real-world performance data, and emerging spam tactics.</a:t>
          </a:r>
        </a:p>
      </dsp:txBody>
      <dsp:txXfrm>
        <a:off x="1057183" y="1145944"/>
        <a:ext cx="9458416" cy="915310"/>
      </dsp:txXfrm>
    </dsp:sp>
    <dsp:sp modelId="{DF9E142D-404A-4EBB-98A7-D42F22ADF70D}">
      <dsp:nvSpPr>
        <dsp:cNvPr id="0" name=""/>
        <dsp:cNvSpPr/>
      </dsp:nvSpPr>
      <dsp:spPr>
        <a:xfrm>
          <a:off x="0" y="2290082"/>
          <a:ext cx="10515600" cy="91531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52D826-B213-4DBC-B2FC-EF895D5E1E65}">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B44364-F6B7-4C3A-B979-669FA651BC54}">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b="1" kern="1200"/>
            <a:t>Collaboration with Email Service Providers: </a:t>
          </a:r>
          <a:r>
            <a:rPr lang="en-US" sz="1700" kern="1200"/>
            <a:t>Collaborative efforts with email service providers can facilitate the seamless integration of our spam detection system into widely-used email platforms. Such collaborations can enhance the accessibility and reach of our machine learning-based solution.</a:t>
          </a:r>
        </a:p>
      </dsp:txBody>
      <dsp:txXfrm>
        <a:off x="1057183" y="2290082"/>
        <a:ext cx="9458416" cy="915310"/>
      </dsp:txXfrm>
    </dsp:sp>
    <dsp:sp modelId="{6E432971-E8D3-4442-9DDB-538435692EE4}">
      <dsp:nvSpPr>
        <dsp:cNvPr id="0" name=""/>
        <dsp:cNvSpPr/>
      </dsp:nvSpPr>
      <dsp:spPr>
        <a:xfrm>
          <a:off x="0" y="3434221"/>
          <a:ext cx="10515600" cy="91531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DD7AFA-0B8A-4B4B-B603-18CCF30825FE}">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244C97-79A4-4362-B955-CE3283BD40B4}">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755650">
            <a:lnSpc>
              <a:spcPct val="90000"/>
            </a:lnSpc>
            <a:spcBef>
              <a:spcPct val="0"/>
            </a:spcBef>
            <a:spcAft>
              <a:spcPct val="35000"/>
            </a:spcAft>
            <a:buNone/>
          </a:pPr>
          <a:r>
            <a:rPr lang="en-US" sz="1700" b="1" kern="1200"/>
            <a:t>Exploring Advanced Machine Learning Techniques: </a:t>
          </a:r>
          <a:r>
            <a:rPr lang="en-US" sz="1700" kern="1200"/>
            <a:t>As machine learning continues to evolve, exploring advanced techniques, such as deep learning architectures and ensemble methods, holds promise for further improving the sophistication and effectiveness of spam detection models.</a:t>
          </a:r>
        </a:p>
      </dsp:txBody>
      <dsp:txXfrm>
        <a:off x="1057183" y="3434221"/>
        <a:ext cx="9458416" cy="9153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31430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79351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5096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44166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11/24/2023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19918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11/24/2023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80472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11/24/2023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17667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68481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30408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43084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9962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11/24/2023</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898122327"/>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colab.research.google.com/drive/11IQ_0MgmM0JY8COKeap1XGB9AQGQw3oo#scrollTo=3Fj8pYkvm0TN"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DC369E9-F9D5-5B9F-5253-027494ACB00E}"/>
              </a:ext>
            </a:extLst>
          </p:cNvPr>
          <p:cNvSpPr>
            <a:spLocks noGrp="1"/>
          </p:cNvSpPr>
          <p:nvPr>
            <p:ph type="ctrTitle"/>
          </p:nvPr>
        </p:nvSpPr>
        <p:spPr>
          <a:xfrm>
            <a:off x="1314824" y="735106"/>
            <a:ext cx="10053763" cy="2928470"/>
          </a:xfrm>
        </p:spPr>
        <p:txBody>
          <a:bodyPr anchor="b">
            <a:normAutofit/>
          </a:bodyPr>
          <a:lstStyle/>
          <a:p>
            <a:pPr algn="l"/>
            <a:br>
              <a:rPr lang="en-US" sz="2600" dirty="0">
                <a:latin typeface="Calibri"/>
                <a:ea typeface="+mj-lt"/>
                <a:cs typeface="+mj-lt"/>
              </a:rPr>
            </a:br>
            <a:r>
              <a:rPr lang="en-US" sz="2600" dirty="0">
                <a:solidFill>
                  <a:srgbClr val="FFFFFF"/>
                </a:solidFill>
                <a:latin typeface="Calibri"/>
                <a:ea typeface="+mj-lt"/>
                <a:cs typeface="+mj-lt"/>
              </a:rPr>
              <a:t>Disruptive</a:t>
            </a:r>
            <a:br>
              <a:rPr lang="en-US" sz="2600" dirty="0">
                <a:latin typeface="Calibri"/>
                <a:ea typeface="+mj-lt"/>
                <a:cs typeface="+mj-lt"/>
              </a:rPr>
            </a:br>
            <a:r>
              <a:rPr lang="en-US" sz="2600" dirty="0">
                <a:solidFill>
                  <a:srgbClr val="FFFFFF"/>
                </a:solidFill>
                <a:latin typeface="Calibri"/>
                <a:ea typeface="+mj-lt"/>
                <a:cs typeface="+mj-lt"/>
              </a:rPr>
              <a:t>Technologies-I</a:t>
            </a:r>
            <a:br>
              <a:rPr lang="en-US" sz="2600" dirty="0">
                <a:latin typeface="Calibri"/>
                <a:ea typeface="+mj-lt"/>
                <a:cs typeface="+mj-lt"/>
              </a:rPr>
            </a:br>
            <a:br>
              <a:rPr lang="en-US" sz="2600" dirty="0">
                <a:latin typeface="Calibri"/>
                <a:ea typeface="+mj-lt"/>
                <a:cs typeface="+mj-lt"/>
              </a:rPr>
            </a:br>
            <a:r>
              <a:rPr lang="en-US" sz="2600" dirty="0">
                <a:solidFill>
                  <a:srgbClr val="FFFFFF"/>
                </a:solidFill>
                <a:latin typeface="Calibri"/>
                <a:ea typeface="+mj-lt"/>
                <a:cs typeface="Calibri"/>
              </a:rPr>
              <a:t>Submitted to:- Dr. Shonak Bansal (E10103)</a:t>
            </a:r>
          </a:p>
          <a:p>
            <a:pPr algn="l"/>
            <a:br>
              <a:rPr lang="en-US" sz="2600" dirty="0">
                <a:ea typeface="+mj-lt"/>
                <a:cs typeface="+mj-lt"/>
              </a:rPr>
            </a:br>
            <a:endParaRPr lang="en-US" sz="2600">
              <a:solidFill>
                <a:srgbClr val="FFFFFF"/>
              </a:solidFill>
              <a:latin typeface="Calibri"/>
              <a:ea typeface="+mj-lt"/>
              <a:cs typeface="+mj-lt"/>
            </a:endParaRPr>
          </a:p>
        </p:txBody>
      </p:sp>
      <p:sp>
        <p:nvSpPr>
          <p:cNvPr id="3" name="Subtitle 2">
            <a:extLst>
              <a:ext uri="{FF2B5EF4-FFF2-40B4-BE49-F238E27FC236}">
                <a16:creationId xmlns:a16="http://schemas.microsoft.com/office/drawing/2014/main" id="{1AD5DD13-ADF2-31AD-A43E-09C7C3560EBA}"/>
              </a:ext>
            </a:extLst>
          </p:cNvPr>
          <p:cNvSpPr>
            <a:spLocks noGrp="1"/>
          </p:cNvSpPr>
          <p:nvPr>
            <p:ph type="subTitle" idx="1"/>
          </p:nvPr>
        </p:nvSpPr>
        <p:spPr>
          <a:xfrm>
            <a:off x="1350682" y="4870824"/>
            <a:ext cx="10005951" cy="1458258"/>
          </a:xfrm>
        </p:spPr>
        <p:txBody>
          <a:bodyPr vert="horz" lIns="91440" tIns="45720" rIns="91440" bIns="45720" rtlCol="0" anchor="ctr">
            <a:normAutofit/>
          </a:bodyPr>
          <a:lstStyle/>
          <a:p>
            <a:pPr algn="l"/>
            <a:r>
              <a:rPr lang="en-US" sz="2800" b="1" dirty="0">
                <a:cs typeface="Calibri"/>
              </a:rPr>
              <a:t>Topic- Email Spam Classifier Using Python and Machine Learning</a:t>
            </a:r>
          </a:p>
          <a:p>
            <a:pPr algn="l"/>
            <a:endParaRPr lang="en-US" sz="2800" b="1" dirty="0">
              <a:cs typeface="Calibri"/>
            </a:endParaRPr>
          </a:p>
        </p:txBody>
      </p:sp>
    </p:spTree>
    <p:extLst>
      <p:ext uri="{BB962C8B-B14F-4D97-AF65-F5344CB8AC3E}">
        <p14:creationId xmlns:p14="http://schemas.microsoft.com/office/powerpoint/2010/main" val="3212575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5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E5D51-904A-B795-7AA8-A56F825C041A}"/>
              </a:ext>
            </a:extLst>
          </p:cNvPr>
          <p:cNvSpPr>
            <a:spLocks noGrp="1"/>
          </p:cNvSpPr>
          <p:nvPr>
            <p:ph type="title"/>
          </p:nvPr>
        </p:nvSpPr>
        <p:spPr/>
        <p:txBody>
          <a:bodyPr>
            <a:normAutofit/>
          </a:bodyPr>
          <a:lstStyle/>
          <a:p>
            <a:pPr algn="ctr"/>
            <a:r>
              <a:rPr lang="en-US" b="1" dirty="0">
                <a:ea typeface="Calibri Light"/>
                <a:cs typeface="Calibri Light"/>
              </a:rPr>
              <a:t>Certificate</a:t>
            </a:r>
          </a:p>
        </p:txBody>
      </p:sp>
      <p:sp>
        <p:nvSpPr>
          <p:cNvPr id="3" name="Content Placeholder 2">
            <a:extLst>
              <a:ext uri="{FF2B5EF4-FFF2-40B4-BE49-F238E27FC236}">
                <a16:creationId xmlns:a16="http://schemas.microsoft.com/office/drawing/2014/main" id="{FF99A3CF-EF0C-B733-EA1F-C9805B230B7C}"/>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n-US" dirty="0">
                <a:ea typeface="Calibri"/>
                <a:cs typeface="Calibri"/>
              </a:rPr>
              <a:t>This is to certify that Ayush Prem (23BCS10452), Pranjal Verma (23BCS11470), Priyanka (23BCS10834), Asha Ravesh (23BCS10657) and Sejal Wadhwa (23BCS10668) of class and section 206-A has successfully completed the project work on Disruptive Technologies-I for 1st Semester under my supervision on topic "Email Spam Classifier Using Python and Machine Learning".</a:t>
            </a:r>
          </a:p>
          <a:p>
            <a:pPr marL="0" indent="0">
              <a:buNone/>
            </a:pPr>
            <a:endParaRPr lang="en-US" dirty="0">
              <a:solidFill>
                <a:srgbClr val="000000"/>
              </a:solidFill>
              <a:ea typeface="+mn-lt"/>
              <a:cs typeface="+mn-lt"/>
            </a:endParaRPr>
          </a:p>
          <a:p>
            <a:pPr marL="0" indent="0">
              <a:buNone/>
            </a:pPr>
            <a:r>
              <a:rPr lang="en-US" dirty="0">
                <a:solidFill>
                  <a:srgbClr val="000000"/>
                </a:solidFill>
                <a:ea typeface="+mn-lt"/>
                <a:cs typeface="+mn-lt"/>
              </a:rPr>
              <a:t>They have demonstrated exceptional skills throughout the project. They have shown a deep understanding of the subject matter and have applied their knowledge to develop a creative and innovative solution.</a:t>
            </a:r>
            <a:endParaRPr lang="en-US" dirty="0">
              <a:ea typeface="Calibri" panose="020F0502020204030204"/>
              <a:cs typeface="Calibri" panose="020F0502020204030204"/>
            </a:endParaRPr>
          </a:p>
          <a:p>
            <a:pPr marL="0" indent="0">
              <a:buNone/>
            </a:pPr>
            <a:endParaRPr lang="en-US" dirty="0">
              <a:ea typeface="Calibri" panose="020F0502020204030204"/>
              <a:cs typeface="Calibri" panose="020F0502020204030204"/>
            </a:endParaRPr>
          </a:p>
          <a:p>
            <a:pPr marL="0" indent="0">
              <a:buNone/>
            </a:pPr>
            <a:endParaRPr lang="en-US" dirty="0">
              <a:ea typeface="Calibri" panose="020F0502020204030204"/>
              <a:cs typeface="Calibri" panose="020F0502020204030204"/>
            </a:endParaRPr>
          </a:p>
          <a:p>
            <a:pPr marL="0" indent="0">
              <a:buNone/>
            </a:pPr>
            <a:r>
              <a:rPr lang="en-US" dirty="0">
                <a:ea typeface="Calibri" panose="020F0502020204030204"/>
                <a:cs typeface="Calibri" panose="020F0502020204030204"/>
              </a:rPr>
              <a:t>Certified By:-</a:t>
            </a:r>
          </a:p>
          <a:p>
            <a:pPr marL="0" indent="0">
              <a:buNone/>
            </a:pPr>
            <a:r>
              <a:rPr lang="en-US" dirty="0">
                <a:ea typeface="Calibri" panose="020F0502020204030204"/>
                <a:cs typeface="Calibri" panose="020F0502020204030204"/>
              </a:rPr>
              <a:t>Dr. Shonak Bansal (E10103)</a:t>
            </a:r>
            <a:endParaRPr lang="en-US" dirty="0">
              <a:solidFill>
                <a:srgbClr val="000000"/>
              </a:solidFill>
              <a:latin typeface="Calibri" panose="020F0502020204030204"/>
              <a:ea typeface="Calibri" panose="020F0502020204030204"/>
              <a:cs typeface="Calibri" panose="020F0502020204030204"/>
            </a:endParaRPr>
          </a:p>
          <a:p>
            <a:pPr marL="0" indent="0">
              <a:buNone/>
            </a:pPr>
            <a:r>
              <a:rPr lang="en-US" dirty="0">
                <a:cs typeface="Calibri" panose="020F0502020204030204"/>
              </a:rPr>
              <a:t>(Subject Teacher)</a:t>
            </a:r>
          </a:p>
          <a:p>
            <a:pPr marL="0" indent="0">
              <a:buNone/>
            </a:pPr>
            <a:endParaRPr lang="en-US" dirty="0">
              <a:cs typeface="Calibri" panose="020F0502020204030204"/>
            </a:endParaRPr>
          </a:p>
        </p:txBody>
      </p:sp>
    </p:spTree>
    <p:extLst>
      <p:ext uri="{BB962C8B-B14F-4D97-AF65-F5344CB8AC3E}">
        <p14:creationId xmlns:p14="http://schemas.microsoft.com/office/powerpoint/2010/main" val="3812407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2A414-037C-07E2-78F7-AA5F1CFB3403}"/>
              </a:ext>
            </a:extLst>
          </p:cNvPr>
          <p:cNvSpPr>
            <a:spLocks noGrp="1"/>
          </p:cNvSpPr>
          <p:nvPr>
            <p:ph type="title"/>
          </p:nvPr>
        </p:nvSpPr>
        <p:spPr/>
        <p:txBody>
          <a:bodyPr/>
          <a:lstStyle/>
          <a:p>
            <a:pPr algn="ctr"/>
            <a:r>
              <a:rPr lang="en-US" b="1" dirty="0">
                <a:solidFill>
                  <a:srgbClr val="000000"/>
                </a:solidFill>
              </a:rPr>
              <a:t>Acknowledgement</a:t>
            </a:r>
            <a:endParaRPr lang="en-US" b="1">
              <a:solidFill>
                <a:srgbClr val="000000"/>
              </a:solidFill>
              <a:cs typeface="Calibri Light"/>
            </a:endParaRPr>
          </a:p>
          <a:p>
            <a:pPr algn="ctr"/>
            <a:endParaRPr lang="en-US" b="1" dirty="0">
              <a:cs typeface="Calibri Light"/>
            </a:endParaRPr>
          </a:p>
        </p:txBody>
      </p:sp>
      <p:sp>
        <p:nvSpPr>
          <p:cNvPr id="3" name="Content Placeholder 2">
            <a:extLst>
              <a:ext uri="{FF2B5EF4-FFF2-40B4-BE49-F238E27FC236}">
                <a16:creationId xmlns:a16="http://schemas.microsoft.com/office/drawing/2014/main" id="{64286954-4BE6-58C4-9227-A5E0552D73F6}"/>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en-US" dirty="0">
                <a:solidFill>
                  <a:srgbClr val="000000"/>
                </a:solidFill>
                <a:ea typeface="+mn-lt"/>
                <a:cs typeface="+mn-lt"/>
              </a:rPr>
              <a:t>I would like to convey my heartfelt gratitude to Dr. Shonak Bansal for his tremendous support and assistance in the completion of our project. I would also like to thank our Head of Department, Dr. Gaurav Bathla, for providing us with this wonderful opportunity to work on a project with the topic "Email Spam Classifier Using Python and Machine Learning". The completion of the project would not have been possible without their help and insights.</a:t>
            </a:r>
            <a:endParaRPr lang="en-US">
              <a:cs typeface="Calibri" panose="020F0502020204030204"/>
            </a:endParaRPr>
          </a:p>
          <a:p>
            <a:pPr marL="0" indent="0">
              <a:buNone/>
            </a:pPr>
            <a:endParaRPr lang="en-US" dirty="0">
              <a:cs typeface="Calibri"/>
            </a:endParaRPr>
          </a:p>
          <a:p>
            <a:pPr marL="0" indent="0">
              <a:buNone/>
            </a:pPr>
            <a:r>
              <a:rPr lang="en-US" dirty="0">
                <a:cs typeface="Calibri"/>
              </a:rPr>
              <a:t>Submitted by:-</a:t>
            </a:r>
          </a:p>
          <a:p>
            <a:pPr marL="0" indent="0">
              <a:buNone/>
            </a:pPr>
            <a:r>
              <a:rPr lang="en-US" dirty="0">
                <a:cs typeface="Calibri"/>
              </a:rPr>
              <a:t>Ayush Prem (23BCS10452)</a:t>
            </a:r>
          </a:p>
          <a:p>
            <a:pPr marL="0" indent="0">
              <a:buNone/>
            </a:pPr>
            <a:r>
              <a:rPr lang="en-US" dirty="0">
                <a:cs typeface="Calibri"/>
              </a:rPr>
              <a:t>Pranjal Verma (23BCS11470)</a:t>
            </a:r>
          </a:p>
          <a:p>
            <a:pPr marL="0" indent="0">
              <a:buNone/>
            </a:pPr>
            <a:r>
              <a:rPr lang="en-US" dirty="0">
                <a:cs typeface="Calibri"/>
              </a:rPr>
              <a:t>Priyanka (23BCS10834)</a:t>
            </a:r>
          </a:p>
          <a:p>
            <a:pPr marL="0" indent="0">
              <a:buNone/>
            </a:pPr>
            <a:r>
              <a:rPr lang="en-US" dirty="0">
                <a:cs typeface="Calibri"/>
              </a:rPr>
              <a:t>Asha Ravesh (23BCS10657)</a:t>
            </a:r>
          </a:p>
          <a:p>
            <a:pPr marL="0" indent="0">
              <a:buNone/>
            </a:pPr>
            <a:r>
              <a:rPr lang="en-US" dirty="0">
                <a:cs typeface="Calibri"/>
              </a:rPr>
              <a:t>Sejal Wadhwa (23BCS10668)</a:t>
            </a:r>
          </a:p>
          <a:p>
            <a:pPr marL="0" indent="0">
              <a:buNone/>
            </a:pPr>
            <a:endParaRPr lang="en-US" dirty="0">
              <a:cs typeface="Calibri"/>
            </a:endParaRPr>
          </a:p>
          <a:p>
            <a:pPr marL="0" indent="0">
              <a:buNone/>
            </a:pPr>
            <a:endParaRPr lang="en-US" dirty="0">
              <a:cs typeface="Calibri"/>
            </a:endParaRPr>
          </a:p>
          <a:p>
            <a:pPr marL="0" indent="0">
              <a:buNone/>
            </a:pPr>
            <a:endParaRPr lang="en-US" dirty="0">
              <a:cs typeface="Calibri"/>
            </a:endParaRPr>
          </a:p>
          <a:p>
            <a:pPr marL="0" indent="0">
              <a:buNone/>
            </a:pPr>
            <a:endParaRPr lang="en-US" dirty="0">
              <a:cs typeface="Calibri"/>
            </a:endParaRPr>
          </a:p>
          <a:p>
            <a:pPr marL="0" indent="0">
              <a:buNone/>
            </a:pPr>
            <a:endParaRPr lang="en-US" dirty="0">
              <a:cs typeface="Calibri"/>
            </a:endParaRPr>
          </a:p>
          <a:p>
            <a:pPr marL="0" indent="0">
              <a:buNone/>
            </a:pPr>
            <a:endParaRPr lang="en-US" dirty="0">
              <a:cs typeface="Calibri"/>
            </a:endParaRPr>
          </a:p>
        </p:txBody>
      </p:sp>
    </p:spTree>
    <p:extLst>
      <p:ext uri="{BB962C8B-B14F-4D97-AF65-F5344CB8AC3E}">
        <p14:creationId xmlns:p14="http://schemas.microsoft.com/office/powerpoint/2010/main" val="188926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E0809-1CE5-2383-73A2-F01D1CC80549}"/>
              </a:ext>
            </a:extLst>
          </p:cNvPr>
          <p:cNvSpPr>
            <a:spLocks noGrp="1"/>
          </p:cNvSpPr>
          <p:nvPr>
            <p:ph type="title"/>
          </p:nvPr>
        </p:nvSpPr>
        <p:spPr/>
        <p:txBody>
          <a:bodyPr/>
          <a:lstStyle/>
          <a:p>
            <a:pPr algn="ctr"/>
            <a:r>
              <a:rPr lang="en-US" b="1" dirty="0">
                <a:cs typeface="Calibri Light"/>
              </a:rPr>
              <a:t>Introduction</a:t>
            </a:r>
          </a:p>
        </p:txBody>
      </p:sp>
      <p:graphicFrame>
        <p:nvGraphicFramePr>
          <p:cNvPr id="7" name="Content Placeholder 2">
            <a:extLst>
              <a:ext uri="{FF2B5EF4-FFF2-40B4-BE49-F238E27FC236}">
                <a16:creationId xmlns:a16="http://schemas.microsoft.com/office/drawing/2014/main" id="{1ED2DFF2-4942-C88F-60FE-37019887CD2C}"/>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5108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B554191-C7DD-DEE6-6E94-93DADAEDE7A2}"/>
              </a:ext>
            </a:extLst>
          </p:cNvPr>
          <p:cNvSpPr>
            <a:spLocks noGrp="1"/>
          </p:cNvSpPr>
          <p:nvPr>
            <p:ph type="title"/>
          </p:nvPr>
        </p:nvSpPr>
        <p:spPr>
          <a:xfrm>
            <a:off x="838200" y="365125"/>
            <a:ext cx="10515600" cy="1325563"/>
          </a:xfrm>
        </p:spPr>
        <p:txBody>
          <a:bodyPr>
            <a:normAutofit/>
          </a:bodyPr>
          <a:lstStyle/>
          <a:p>
            <a:br>
              <a:rPr lang="en-US" b="1" dirty="0">
                <a:latin typeface="Calibri Light"/>
                <a:cs typeface="Calibri Light"/>
              </a:rPr>
            </a:br>
            <a:r>
              <a:rPr lang="en-US" b="1" dirty="0">
                <a:latin typeface="Calibri Light"/>
                <a:cs typeface="Calibri Light"/>
              </a:rPr>
              <a:t>What is spam email and ham email?</a:t>
            </a:r>
          </a:p>
          <a:p>
            <a:endParaRPr lang="en-US" b="1" dirty="0">
              <a:cs typeface="Calibri Light"/>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9CA5A16-6B61-E361-0322-4C2A95478E1F}"/>
              </a:ext>
            </a:extLst>
          </p:cNvPr>
          <p:cNvSpPr>
            <a:spLocks noGrp="1"/>
          </p:cNvSpPr>
          <p:nvPr>
            <p:ph idx="1"/>
          </p:nvPr>
        </p:nvSpPr>
        <p:spPr>
          <a:xfrm>
            <a:off x="838200" y="1825625"/>
            <a:ext cx="10515600" cy="4351338"/>
          </a:xfrm>
        </p:spPr>
        <p:txBody>
          <a:bodyPr vert="horz" lIns="91440" tIns="45720" rIns="91440" bIns="45720" rtlCol="0">
            <a:normAutofit/>
          </a:bodyPr>
          <a:lstStyle/>
          <a:p>
            <a:pPr marL="0" indent="0">
              <a:buNone/>
            </a:pPr>
            <a:r>
              <a:rPr lang="en-US" sz="2400" b="1" dirty="0">
                <a:latin typeface="Calibri"/>
                <a:cs typeface="Calibri" panose="020F0502020204030204"/>
              </a:rPr>
              <a:t>What is Spam email?</a:t>
            </a:r>
            <a:endParaRPr lang="en-US" sz="2400">
              <a:latin typeface="Calibri"/>
              <a:cs typeface="Calibri" panose="020F0502020204030204"/>
            </a:endParaRPr>
          </a:p>
          <a:p>
            <a:pPr>
              <a:buNone/>
            </a:pPr>
            <a:r>
              <a:rPr lang="en-US" sz="2400">
                <a:latin typeface="Calibri"/>
                <a:cs typeface="Times New Roman"/>
              </a:rPr>
              <a:t>Spam email is unsolicited and unwanted email, often sent in bulk for commercial purposes. It can also be dangerous, containing links to malware or phishing attacks.</a:t>
            </a:r>
          </a:p>
          <a:p>
            <a:pPr>
              <a:buNone/>
            </a:pPr>
            <a:r>
              <a:rPr lang="en-US" sz="2400">
                <a:latin typeface="Calibri"/>
                <a:cs typeface="Times New Roman"/>
              </a:rPr>
              <a:t>Spam emails are typically sent by bots, which are computer programs that can automatically generate and send emails. Bots can be used to send millions of spam emails in a single day.</a:t>
            </a:r>
          </a:p>
          <a:p>
            <a:pPr>
              <a:buNone/>
            </a:pPr>
            <a:r>
              <a:rPr lang="en-US" sz="2400" b="1" dirty="0">
                <a:latin typeface="Calibri"/>
                <a:cs typeface="Calibri" panose="020F0502020204030204"/>
              </a:rPr>
              <a:t>What is Ham email?</a:t>
            </a:r>
            <a:endParaRPr lang="en-US" sz="2400">
              <a:latin typeface="Calibri"/>
              <a:cs typeface="Calibri" panose="020F0502020204030204"/>
            </a:endParaRPr>
          </a:p>
          <a:p>
            <a:pPr>
              <a:buNone/>
            </a:pPr>
            <a:r>
              <a:rPr lang="en-US" sz="2400">
                <a:latin typeface="Calibri"/>
                <a:cs typeface="Times New Roman"/>
              </a:rPr>
              <a:t>Ham email is email that is not spam. It can be anything from personal messages from friends and family members to work-related emails from work colleagues, banks or government to newsletters.</a:t>
            </a:r>
          </a:p>
          <a:p>
            <a:pPr>
              <a:buNone/>
            </a:pPr>
            <a:endParaRPr lang="en-US" sz="2400">
              <a:latin typeface="Calibri"/>
              <a:cs typeface="Times New Roman"/>
            </a:endParaRPr>
          </a:p>
          <a:p>
            <a:pPr>
              <a:buNone/>
            </a:pPr>
            <a:endParaRPr lang="en-US" sz="2400">
              <a:latin typeface="Calibri"/>
              <a:cs typeface="Times New Roman"/>
            </a:endParaRPr>
          </a:p>
          <a:p>
            <a:pPr marL="0" indent="0">
              <a:buNone/>
            </a:pPr>
            <a:endParaRPr lang="en-US" sz="2400">
              <a:latin typeface="Calibri"/>
              <a:cs typeface="Calibri" panose="020F0502020204030204"/>
            </a:endParaRPr>
          </a:p>
          <a:p>
            <a:pPr marL="0" indent="0">
              <a:buNone/>
            </a:pPr>
            <a:endParaRPr lang="en-US" sz="2400">
              <a:latin typeface="Calibri"/>
              <a:cs typeface="Calibri" panose="020F0502020204030204"/>
            </a:endParaRPr>
          </a:p>
        </p:txBody>
      </p:sp>
    </p:spTree>
    <p:extLst>
      <p:ext uri="{BB962C8B-B14F-4D97-AF65-F5344CB8AC3E}">
        <p14:creationId xmlns:p14="http://schemas.microsoft.com/office/powerpoint/2010/main" val="3818840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AE77312-A0C3-15C2-C75A-6FE0B848A9B0}"/>
              </a:ext>
            </a:extLst>
          </p:cNvPr>
          <p:cNvSpPr>
            <a:spLocks noGrp="1"/>
          </p:cNvSpPr>
          <p:nvPr>
            <p:ph type="title"/>
          </p:nvPr>
        </p:nvSpPr>
        <p:spPr>
          <a:xfrm>
            <a:off x="838200" y="365125"/>
            <a:ext cx="10515600" cy="1325563"/>
          </a:xfrm>
        </p:spPr>
        <p:txBody>
          <a:bodyPr vert="horz" lIns="91440" tIns="45720" rIns="91440" bIns="45720" rtlCol="0">
            <a:normAutofit/>
          </a:bodyPr>
          <a:lstStyle/>
          <a:p>
            <a:br>
              <a:rPr lang="en-US" b="1">
                <a:latin typeface="Calibri Light"/>
                <a:cs typeface="Calibri Light"/>
              </a:rPr>
            </a:br>
            <a:r>
              <a:rPr lang="en-US" b="1">
                <a:latin typeface="Calibri Light"/>
                <a:cs typeface="Calibri Light"/>
              </a:rPr>
              <a:t>Key features of Spam mail predictor</a:t>
            </a:r>
          </a:p>
          <a:p>
            <a:endParaRPr lang="en-US" b="1">
              <a:cs typeface="Calibri Light"/>
            </a:endParaRPr>
          </a:p>
        </p:txBody>
      </p:sp>
      <p:sp>
        <p:nvSpPr>
          <p:cNvPr id="28" name="Arc 2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BB37EEC-482B-0A21-D6FE-822F2B9830F2}"/>
              </a:ext>
            </a:extLst>
          </p:cNvPr>
          <p:cNvSpPr>
            <a:spLocks noGrp="1"/>
          </p:cNvSpPr>
          <p:nvPr>
            <p:ph idx="1"/>
          </p:nvPr>
        </p:nvSpPr>
        <p:spPr>
          <a:xfrm>
            <a:off x="838200" y="1825625"/>
            <a:ext cx="10515600" cy="4351338"/>
          </a:xfrm>
        </p:spPr>
        <p:txBody>
          <a:bodyPr vert="horz" lIns="91440" tIns="45720" rIns="91440" bIns="45720" rtlCol="0">
            <a:normAutofit/>
          </a:bodyPr>
          <a:lstStyle/>
          <a:p>
            <a:pPr>
              <a:buNone/>
            </a:pPr>
            <a:r>
              <a:rPr lang="en-US" sz="2000">
                <a:latin typeface="Calibri"/>
                <a:cs typeface="Calibri" panose="020F0502020204030204"/>
              </a:rPr>
              <a:t>The key features of a spam email classifier are its ability to provide insights, enhance its security using machine learning, and ensure our protection against spam emails, phishing attacks, and other digital threats.</a:t>
            </a:r>
          </a:p>
          <a:p>
            <a:pPr>
              <a:buFont typeface="Arial,Sans-Serif"/>
              <a:buChar char="•"/>
            </a:pPr>
            <a:r>
              <a:rPr lang="en-US" sz="2000">
                <a:latin typeface="Calibri"/>
                <a:cs typeface="Calibri" panose="020F0502020204030204"/>
              </a:rPr>
              <a:t>Insights: A spam email classifier can provide insights into the types of spam emails that are being targeted at us, as well as the sources of those emails. This information can be used to improve the effectiveness of the classifier and to develop new strategies for combating spam.</a:t>
            </a:r>
          </a:p>
          <a:p>
            <a:pPr>
              <a:buFont typeface="Arial,Sans-Serif"/>
              <a:buChar char="•"/>
            </a:pPr>
            <a:r>
              <a:rPr lang="en-US" sz="2000">
                <a:latin typeface="Calibri"/>
                <a:cs typeface="Calibri" panose="020F0502020204030204"/>
              </a:rPr>
              <a:t>Machine learning: Spam email classifiers are increasingly using machine learning to improve their accuracy and robustness. Machine learning algorithms can be trained to identify spam emails based on a variety of factors, including the content of the email, the sender's email address, and the recipient's email address.</a:t>
            </a:r>
          </a:p>
          <a:p>
            <a:pPr>
              <a:buFont typeface="Arial,Sans-Serif"/>
              <a:buChar char="•"/>
            </a:pPr>
            <a:r>
              <a:rPr lang="en-US" sz="2000">
                <a:latin typeface="Calibri"/>
                <a:cs typeface="Calibri" panose="020F0502020204030204"/>
              </a:rPr>
              <a:t>Protection: Spam email classifiers can protect us from a variety of digital threats, including spam emails, phishing attacks, malware, and ransomware. By filtering out spam emails and other malicious messages, spam email classifiers can help to keep our inboxes clean and our devices safe.</a:t>
            </a:r>
          </a:p>
          <a:p>
            <a:pPr marL="0" indent="0">
              <a:buNone/>
            </a:pPr>
            <a:endParaRPr lang="en-US" sz="2000">
              <a:latin typeface="Calibri"/>
              <a:cs typeface="Calibri" panose="020F0502020204030204"/>
            </a:endParaRPr>
          </a:p>
          <a:p>
            <a:pPr marL="0" indent="0">
              <a:buNone/>
            </a:pPr>
            <a:endParaRPr lang="en-US" sz="2000">
              <a:cs typeface="Calibri" panose="020F0502020204030204"/>
            </a:endParaRPr>
          </a:p>
        </p:txBody>
      </p:sp>
    </p:spTree>
    <p:extLst>
      <p:ext uri="{BB962C8B-B14F-4D97-AF65-F5344CB8AC3E}">
        <p14:creationId xmlns:p14="http://schemas.microsoft.com/office/powerpoint/2010/main" val="2721475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16E24F-5685-BB7B-26FA-4DDA9D4FA4AE}"/>
              </a:ext>
            </a:extLst>
          </p:cNvPr>
          <p:cNvSpPr>
            <a:spLocks noGrp="1"/>
          </p:cNvSpPr>
          <p:nvPr>
            <p:ph type="title"/>
          </p:nvPr>
        </p:nvSpPr>
        <p:spPr>
          <a:xfrm>
            <a:off x="1028700" y="1967266"/>
            <a:ext cx="2628900" cy="2547257"/>
          </a:xfrm>
          <a:noFill/>
        </p:spPr>
        <p:txBody>
          <a:bodyPr vert="horz" lIns="91440" tIns="45720" rIns="91440" bIns="45720" rtlCol="0" anchor="ctr">
            <a:noAutofit/>
          </a:bodyPr>
          <a:lstStyle/>
          <a:p>
            <a:pPr algn="ctr"/>
            <a:br>
              <a:rPr lang="en-US" sz="2300" kern="1200" dirty="0"/>
            </a:br>
            <a:br>
              <a:rPr lang="en-US" sz="2300" kern="1200" dirty="0"/>
            </a:br>
            <a:br>
              <a:rPr lang="en-US" sz="2300" kern="1200" dirty="0"/>
            </a:br>
            <a:r>
              <a:rPr lang="en-US" sz="2300" kern="1200" dirty="0">
                <a:solidFill>
                  <a:srgbClr val="FFFFFF"/>
                </a:solidFill>
                <a:latin typeface="+mj-lt"/>
                <a:ea typeface="+mj-ea"/>
                <a:cs typeface="+mj-cs"/>
              </a:rPr>
              <a:t>Workflow of email spam classifier</a:t>
            </a:r>
            <a:br>
              <a:rPr lang="en-US" sz="2300" kern="1200" dirty="0"/>
            </a:br>
            <a:br>
              <a:rPr lang="en-US" sz="2300" kern="1200" dirty="0"/>
            </a:br>
            <a:endParaRPr lang="en-US" sz="2300" kern="1200" dirty="0">
              <a:solidFill>
                <a:srgbClr val="FFFFFF"/>
              </a:solidFill>
              <a:latin typeface="+mj-lt"/>
              <a:cs typeface="Calibri Light"/>
            </a:endParaRPr>
          </a:p>
          <a:p>
            <a:pPr algn="ctr"/>
            <a:endParaRPr lang="en-US" sz="2300" kern="1200" dirty="0">
              <a:solidFill>
                <a:srgbClr val="FFFFFF"/>
              </a:solidFill>
              <a:latin typeface="+mj-lt"/>
              <a:cs typeface="Calibri Light"/>
            </a:endParaRPr>
          </a:p>
        </p:txBody>
      </p:sp>
      <p:pic>
        <p:nvPicPr>
          <p:cNvPr id="4" name="Content Placeholder 3" descr="A diagram of a work flow&#10;&#10;Description automatically generated">
            <a:extLst>
              <a:ext uri="{FF2B5EF4-FFF2-40B4-BE49-F238E27FC236}">
                <a16:creationId xmlns:a16="http://schemas.microsoft.com/office/drawing/2014/main" id="{A4D230C2-76CF-F7D7-3147-701003395A1F}"/>
              </a:ext>
            </a:extLst>
          </p:cNvPr>
          <p:cNvPicPr>
            <a:picLocks noGrp="1" noChangeAspect="1"/>
          </p:cNvPicPr>
          <p:nvPr>
            <p:ph idx="1"/>
          </p:nvPr>
        </p:nvPicPr>
        <p:blipFill>
          <a:blip r:embed="rId2"/>
          <a:stretch>
            <a:fillRect/>
          </a:stretch>
        </p:blipFill>
        <p:spPr>
          <a:xfrm>
            <a:off x="4777316" y="817266"/>
            <a:ext cx="6780700" cy="5221139"/>
          </a:xfrm>
          <a:prstGeom prst="rect">
            <a:avLst/>
          </a:prstGeom>
        </p:spPr>
      </p:pic>
    </p:spTree>
    <p:extLst>
      <p:ext uri="{BB962C8B-B14F-4D97-AF65-F5344CB8AC3E}">
        <p14:creationId xmlns:p14="http://schemas.microsoft.com/office/powerpoint/2010/main" val="2324295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42FE2D-1DD4-B7E0-80ED-6AE151EF30E5}"/>
              </a:ext>
            </a:extLst>
          </p:cNvPr>
          <p:cNvSpPr>
            <a:spLocks noGrp="1"/>
          </p:cNvSpPr>
          <p:nvPr>
            <p:ph type="title"/>
          </p:nvPr>
        </p:nvSpPr>
        <p:spPr>
          <a:xfrm>
            <a:off x="1043631" y="809898"/>
            <a:ext cx="9942716" cy="1554480"/>
          </a:xfrm>
        </p:spPr>
        <p:txBody>
          <a:bodyPr anchor="ctr">
            <a:normAutofit/>
          </a:bodyPr>
          <a:lstStyle/>
          <a:p>
            <a:r>
              <a:rPr lang="en-US" sz="4800" b="1">
                <a:latin typeface="Calibri Light"/>
                <a:ea typeface="Cambria"/>
                <a:cs typeface="Calibri Light"/>
              </a:rPr>
              <a:t>Benefits of Machine Learning in Spam Detection</a:t>
            </a:r>
            <a:endParaRPr lang="en-US" sz="4800"/>
          </a:p>
        </p:txBody>
      </p:sp>
      <p:sp>
        <p:nvSpPr>
          <p:cNvPr id="3" name="Content Placeholder 2">
            <a:extLst>
              <a:ext uri="{FF2B5EF4-FFF2-40B4-BE49-F238E27FC236}">
                <a16:creationId xmlns:a16="http://schemas.microsoft.com/office/drawing/2014/main" id="{806F18DD-87FF-4BA2-F8ED-1ABA8DE1A73A}"/>
              </a:ext>
            </a:extLst>
          </p:cNvPr>
          <p:cNvSpPr>
            <a:spLocks noGrp="1"/>
          </p:cNvSpPr>
          <p:nvPr>
            <p:ph idx="1"/>
          </p:nvPr>
        </p:nvSpPr>
        <p:spPr>
          <a:xfrm>
            <a:off x="1045028" y="3017522"/>
            <a:ext cx="9941319" cy="3124658"/>
          </a:xfrm>
        </p:spPr>
        <p:txBody>
          <a:bodyPr vert="horz" lIns="91440" tIns="45720" rIns="91440" bIns="45720" rtlCol="0" anchor="ctr">
            <a:noAutofit/>
          </a:bodyPr>
          <a:lstStyle/>
          <a:p>
            <a:pPr>
              <a:buNone/>
            </a:pPr>
            <a:endParaRPr lang="en-US" sz="1800" dirty="0">
              <a:cs typeface="Calibri"/>
            </a:endParaRPr>
          </a:p>
          <a:p>
            <a:pPr>
              <a:buNone/>
            </a:pPr>
            <a:r>
              <a:rPr lang="en-US" sz="1800" dirty="0">
                <a:ea typeface="+mn-lt"/>
                <a:cs typeface="+mn-lt"/>
              </a:rPr>
              <a:t>Machine learning offers a transformative approach to spam detection, surpassing traditional rule-based systems in accuracy, adaptability, and overall effectiveness.</a:t>
            </a:r>
            <a:endParaRPr lang="en-US" sz="1800" dirty="0">
              <a:cs typeface="Calibri"/>
            </a:endParaRPr>
          </a:p>
          <a:p>
            <a:r>
              <a:rPr lang="en-US" sz="1800" dirty="0">
                <a:cs typeface="Calibri"/>
              </a:rPr>
              <a:t>Enhanced Accuracy: Machine learning algorithms analyze vast datasets to identify nuanced patterns, significantly improving accuracy and minimizing false positives/negatives.</a:t>
            </a:r>
          </a:p>
          <a:p>
            <a:r>
              <a:rPr lang="en-US" sz="1800" dirty="0">
                <a:cs typeface="Calibri"/>
              </a:rPr>
              <a:t>Adaptive Learning: Continuous learning from new data enables machine learning to adapt to evolving spam tactics, proactively identifying and mitigating novel spam techniques.</a:t>
            </a:r>
          </a:p>
          <a:p>
            <a:r>
              <a:rPr lang="en-US" sz="1800" dirty="0">
                <a:cs typeface="Calibri"/>
              </a:rPr>
              <a:t>Contextual Understanding: Machine learning analyzes not only email content but also contextual cues, enabling nuanced detection of subtle spam patterns.</a:t>
            </a:r>
          </a:p>
          <a:p>
            <a:r>
              <a:rPr lang="en-US" sz="1800" dirty="0">
                <a:cs typeface="Calibri"/>
              </a:rPr>
              <a:t>Reduced False Positives/Negatives: Dynamically adjusted decision boundaries based on learned characteristics mitigate false positives and false negatives, enhancing user trust.</a:t>
            </a:r>
          </a:p>
          <a:p>
            <a:endParaRPr lang="en-US" sz="1800" dirty="0">
              <a:cs typeface="Calibri"/>
            </a:endParaRP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6368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4F55E-A99F-6BA8-05B6-AC8DC1F8796E}"/>
              </a:ext>
            </a:extLst>
          </p:cNvPr>
          <p:cNvSpPr>
            <a:spLocks noGrp="1"/>
          </p:cNvSpPr>
          <p:nvPr>
            <p:ph type="title"/>
          </p:nvPr>
        </p:nvSpPr>
        <p:spPr>
          <a:xfrm>
            <a:off x="1043631" y="809898"/>
            <a:ext cx="9942716" cy="1554480"/>
          </a:xfrm>
        </p:spPr>
        <p:txBody>
          <a:bodyPr anchor="ctr">
            <a:normAutofit/>
          </a:bodyPr>
          <a:lstStyle/>
          <a:p>
            <a:br>
              <a:rPr lang="en-US" sz="3400" b="1">
                <a:cs typeface="Calibri Light"/>
              </a:rPr>
            </a:br>
            <a:r>
              <a:rPr lang="en-US" sz="3400" b="1">
                <a:cs typeface="Calibri Light"/>
              </a:rPr>
              <a:t>Benefits of Machine Learning in Spam Detection contd...</a:t>
            </a:r>
            <a:endParaRPr lang="en-US" sz="3400">
              <a:cs typeface="Calibri Light"/>
            </a:endParaRPr>
          </a:p>
          <a:p>
            <a:endParaRPr lang="en-US" sz="3400">
              <a:cs typeface="Calibri Light"/>
            </a:endParaRPr>
          </a:p>
        </p:txBody>
      </p:sp>
      <p:sp>
        <p:nvSpPr>
          <p:cNvPr id="3" name="Content Placeholder 2">
            <a:extLst>
              <a:ext uri="{FF2B5EF4-FFF2-40B4-BE49-F238E27FC236}">
                <a16:creationId xmlns:a16="http://schemas.microsoft.com/office/drawing/2014/main" id="{4E658E50-D28B-5B35-48DF-D214E941CAE6}"/>
              </a:ext>
            </a:extLst>
          </p:cNvPr>
          <p:cNvSpPr>
            <a:spLocks noGrp="1"/>
          </p:cNvSpPr>
          <p:nvPr>
            <p:ph idx="1"/>
          </p:nvPr>
        </p:nvSpPr>
        <p:spPr>
          <a:xfrm>
            <a:off x="1045028" y="3017522"/>
            <a:ext cx="9941319" cy="3124658"/>
          </a:xfrm>
        </p:spPr>
        <p:txBody>
          <a:bodyPr vert="horz" lIns="91440" tIns="45720" rIns="91440" bIns="45720" rtlCol="0" anchor="ctr">
            <a:noAutofit/>
          </a:bodyPr>
          <a:lstStyle/>
          <a:p>
            <a:r>
              <a:rPr lang="en-US" sz="1800" dirty="0">
                <a:cs typeface="Calibri"/>
              </a:rPr>
              <a:t>Continuous Learning and Adaptation: Machine learning dynamically adjusts its models to the ever-changing nature of spam campaigns, ensuring ongoing robustness and effectiveness.</a:t>
            </a:r>
          </a:p>
          <a:p>
            <a:r>
              <a:rPr lang="en-US" sz="1800" dirty="0">
                <a:cs typeface="Calibri"/>
              </a:rPr>
              <a:t>Scalability and Efficient Resource Utilization: Machine learning efficiently processes large datasets, enabling seamless adaptation to the growing influx of emails.</a:t>
            </a:r>
          </a:p>
          <a:p>
            <a:r>
              <a:rPr lang="en-US" sz="1800" dirty="0">
                <a:cs typeface="Calibri"/>
              </a:rPr>
              <a:t>Personalized and User-Centric Approaches: Machine learning tailors its detection mechanisms to each user's unique patterns, reducing false positives and enhancing the user experience.</a:t>
            </a:r>
          </a:p>
          <a:p>
            <a:r>
              <a:rPr lang="en-US" sz="1800" dirty="0">
                <a:cs typeface="Calibri"/>
              </a:rPr>
              <a:t>Reduced Operational Overhead: Machine learning's self-learning nature minimizes the need for continuous manual adjustments, reducing operational overhead and allowing for more efficient resource allocation.</a:t>
            </a:r>
          </a:p>
          <a:p>
            <a:r>
              <a:rPr lang="en-US" sz="1800" dirty="0">
                <a:cs typeface="Calibri"/>
              </a:rPr>
              <a:t>Futureproofing Against Evolving Tactics: Machine learning's ability to analyze and adapt to emerging patterns future-proofs spam detection systems against evolving tactics.</a:t>
            </a:r>
          </a:p>
          <a:p>
            <a:endParaRPr lang="en-US" sz="1800" dirty="0">
              <a:cs typeface="Calibri"/>
            </a:endParaRP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8381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C1D990-3599-2F28-4539-08F909D99C5D}"/>
              </a:ext>
            </a:extLst>
          </p:cNvPr>
          <p:cNvSpPr>
            <a:spLocks noGrp="1"/>
          </p:cNvSpPr>
          <p:nvPr>
            <p:ph type="title"/>
          </p:nvPr>
        </p:nvSpPr>
        <p:spPr>
          <a:xfrm>
            <a:off x="804672" y="802955"/>
            <a:ext cx="4766330" cy="1454051"/>
          </a:xfrm>
        </p:spPr>
        <p:txBody>
          <a:bodyPr>
            <a:normAutofit/>
          </a:bodyPr>
          <a:lstStyle/>
          <a:p>
            <a:r>
              <a:rPr lang="en-US" sz="3600" b="1">
                <a:solidFill>
                  <a:schemeClr val="tx2"/>
                </a:solidFill>
                <a:cs typeface="Calibri Light"/>
              </a:rPr>
              <a:t>Software used</a:t>
            </a:r>
            <a:endParaRPr lang="en-US" sz="3600">
              <a:solidFill>
                <a:schemeClr val="tx2"/>
              </a:solidFill>
            </a:endParaRPr>
          </a:p>
        </p:txBody>
      </p:sp>
      <p:sp>
        <p:nvSpPr>
          <p:cNvPr id="3" name="Content Placeholder 2">
            <a:extLst>
              <a:ext uri="{FF2B5EF4-FFF2-40B4-BE49-F238E27FC236}">
                <a16:creationId xmlns:a16="http://schemas.microsoft.com/office/drawing/2014/main" id="{0C047F09-2F02-6EA9-E519-09DF3D09F1C5}"/>
              </a:ext>
            </a:extLst>
          </p:cNvPr>
          <p:cNvSpPr>
            <a:spLocks noGrp="1"/>
          </p:cNvSpPr>
          <p:nvPr>
            <p:ph idx="1"/>
          </p:nvPr>
        </p:nvSpPr>
        <p:spPr>
          <a:xfrm>
            <a:off x="804672" y="2421683"/>
            <a:ext cx="4765949" cy="3353476"/>
          </a:xfrm>
        </p:spPr>
        <p:txBody>
          <a:bodyPr vert="horz" lIns="91440" tIns="45720" rIns="91440" bIns="45720" rtlCol="0" anchor="t">
            <a:normAutofit/>
          </a:bodyPr>
          <a:lstStyle/>
          <a:p>
            <a:pPr marL="0" indent="0">
              <a:buNone/>
            </a:pPr>
            <a:r>
              <a:rPr lang="en-US" sz="1700" b="1" dirty="0">
                <a:solidFill>
                  <a:schemeClr val="tx2"/>
                </a:solidFill>
                <a:ea typeface="+mn-lt"/>
                <a:cs typeface="+mn-lt"/>
              </a:rPr>
              <a:t>Google </a:t>
            </a:r>
            <a:r>
              <a:rPr lang="en-US" sz="1700" b="1" err="1">
                <a:solidFill>
                  <a:schemeClr val="tx2"/>
                </a:solidFill>
                <a:ea typeface="+mn-lt"/>
                <a:cs typeface="+mn-lt"/>
              </a:rPr>
              <a:t>colaboratory</a:t>
            </a:r>
            <a:endParaRPr lang="en-US" sz="1700" b="1">
              <a:solidFill>
                <a:schemeClr val="tx2"/>
              </a:solidFill>
              <a:ea typeface="+mn-lt"/>
              <a:cs typeface="+mn-lt"/>
            </a:endParaRPr>
          </a:p>
          <a:p>
            <a:pPr marL="0" indent="0">
              <a:buNone/>
            </a:pPr>
            <a:r>
              <a:rPr lang="en-US" sz="1700" dirty="0">
                <a:solidFill>
                  <a:schemeClr val="tx2"/>
                </a:solidFill>
                <a:latin typeface="Cambria"/>
                <a:ea typeface="Cambria"/>
                <a:cs typeface="Calibri"/>
              </a:rPr>
              <a:t>Google </a:t>
            </a:r>
            <a:r>
              <a:rPr lang="en-US" sz="1700" dirty="0" err="1">
                <a:solidFill>
                  <a:schemeClr val="tx2"/>
                </a:solidFill>
                <a:latin typeface="Cambria"/>
                <a:ea typeface="Cambria"/>
                <a:cs typeface="Calibri"/>
              </a:rPr>
              <a:t>Colaboratory</a:t>
            </a:r>
            <a:r>
              <a:rPr lang="en-US" sz="1700" dirty="0">
                <a:solidFill>
                  <a:schemeClr val="tx2"/>
                </a:solidFill>
                <a:latin typeface="Cambria"/>
                <a:ea typeface="Cambria"/>
                <a:cs typeface="Calibri"/>
              </a:rPr>
              <a:t>, or </a:t>
            </a:r>
            <a:r>
              <a:rPr lang="en-US" sz="1700" dirty="0" err="1">
                <a:solidFill>
                  <a:schemeClr val="tx2"/>
                </a:solidFill>
                <a:latin typeface="Cambria"/>
                <a:ea typeface="Cambria"/>
                <a:cs typeface="Calibri"/>
              </a:rPr>
              <a:t>Colab</a:t>
            </a:r>
            <a:r>
              <a:rPr lang="en-US" sz="1700" dirty="0">
                <a:solidFill>
                  <a:schemeClr val="tx2"/>
                </a:solidFill>
                <a:latin typeface="Cambria"/>
                <a:ea typeface="Cambria"/>
                <a:cs typeface="Calibri"/>
              </a:rPr>
              <a:t>, is an as-a-service version of </a:t>
            </a:r>
            <a:r>
              <a:rPr lang="en-US" sz="1700" dirty="0" err="1">
                <a:solidFill>
                  <a:schemeClr val="tx2"/>
                </a:solidFill>
                <a:latin typeface="Cambria"/>
                <a:ea typeface="Cambria"/>
                <a:cs typeface="Calibri"/>
              </a:rPr>
              <a:t>Jupyter</a:t>
            </a:r>
            <a:r>
              <a:rPr lang="en-US" sz="1700" dirty="0">
                <a:solidFill>
                  <a:schemeClr val="tx2"/>
                </a:solidFill>
                <a:latin typeface="Cambria"/>
                <a:ea typeface="Cambria"/>
                <a:cs typeface="Calibri"/>
              </a:rPr>
              <a:t> Notebook that enables you to write and execute Python code through your browser. </a:t>
            </a:r>
            <a:r>
              <a:rPr lang="en-US" sz="1700" dirty="0" err="1">
                <a:solidFill>
                  <a:schemeClr val="tx2"/>
                </a:solidFill>
                <a:latin typeface="Cambria"/>
                <a:ea typeface="Cambria"/>
                <a:cs typeface="Calibri"/>
              </a:rPr>
              <a:t>Jupyter</a:t>
            </a:r>
            <a:r>
              <a:rPr lang="en-US" sz="1700" dirty="0">
                <a:solidFill>
                  <a:schemeClr val="tx2"/>
                </a:solidFill>
                <a:latin typeface="Cambria"/>
                <a:ea typeface="Cambria"/>
                <a:cs typeface="Calibri"/>
              </a:rPr>
              <a:t> Notebook is a free, open-source creation from the </a:t>
            </a:r>
            <a:r>
              <a:rPr lang="en-US" sz="1700" dirty="0" err="1">
                <a:solidFill>
                  <a:schemeClr val="tx2"/>
                </a:solidFill>
                <a:latin typeface="Cambria"/>
                <a:ea typeface="Cambria"/>
                <a:cs typeface="Calibri"/>
              </a:rPr>
              <a:t>Jupyter</a:t>
            </a:r>
            <a:r>
              <a:rPr lang="en-US" sz="1700" dirty="0">
                <a:solidFill>
                  <a:schemeClr val="tx2"/>
                </a:solidFill>
                <a:latin typeface="Cambria"/>
                <a:ea typeface="Cambria"/>
                <a:cs typeface="Calibri"/>
              </a:rPr>
              <a:t> Project.</a:t>
            </a:r>
          </a:p>
          <a:p>
            <a:pPr marL="0" indent="0">
              <a:buNone/>
            </a:pPr>
            <a:endParaRPr lang="en-US" sz="1700">
              <a:solidFill>
                <a:schemeClr val="tx2"/>
              </a:solidFill>
              <a:cs typeface="Calibri"/>
            </a:endParaRPr>
          </a:p>
          <a:p>
            <a:pPr marL="0" indent="0">
              <a:buNone/>
            </a:pPr>
            <a:r>
              <a:rPr lang="en-US" sz="1700" dirty="0">
                <a:solidFill>
                  <a:schemeClr val="tx2"/>
                </a:solidFill>
                <a:cs typeface="Calibri"/>
              </a:rPr>
              <a:t>File link:- </a:t>
            </a:r>
            <a:endParaRPr lang="en-US" sz="1700" dirty="0">
              <a:solidFill>
                <a:schemeClr val="tx2"/>
              </a:solidFill>
              <a:ea typeface="+mn-lt"/>
              <a:cs typeface="+mn-lt"/>
            </a:endParaRPr>
          </a:p>
          <a:p>
            <a:pPr marL="0" indent="0">
              <a:buNone/>
            </a:pPr>
            <a:r>
              <a:rPr lang="en-US" sz="1700" dirty="0">
                <a:solidFill>
                  <a:schemeClr val="tx2"/>
                </a:solidFill>
                <a:ea typeface="+mn-lt"/>
                <a:cs typeface="+mn-lt"/>
                <a:hlinkClick r:id="rId2">
                  <a:extLst>
                    <a:ext uri="{A12FA001-AC4F-418D-AE19-62706E023703}">
                      <ahyp:hlinkClr xmlns:ahyp="http://schemas.microsoft.com/office/drawing/2018/hyperlinkcolor" val="tx"/>
                    </a:ext>
                  </a:extLst>
                </a:hlinkClick>
              </a:rPr>
              <a:t>https://colab.research.google.com/drive/11IQ_0MgmM0JY8COKeap1XGB9AQGQw3oo#scrollTo=3Fj8pYkvm0TN</a:t>
            </a:r>
            <a:endParaRPr lang="en-US" sz="1700" dirty="0">
              <a:solidFill>
                <a:schemeClr val="tx2"/>
              </a:solidFill>
              <a:ea typeface="+mn-lt"/>
              <a:cs typeface="+mn-lt"/>
            </a:endParaRPr>
          </a:p>
          <a:p>
            <a:pPr marL="0" indent="0">
              <a:buNone/>
            </a:pPr>
            <a:endParaRPr lang="en-US" sz="1700">
              <a:solidFill>
                <a:schemeClr val="tx2"/>
              </a:solidFill>
              <a:cs typeface="Calibri"/>
            </a:endParaRPr>
          </a:p>
          <a:p>
            <a:pPr marL="0" indent="0">
              <a:buNone/>
            </a:pPr>
            <a:endParaRPr lang="en-US" sz="1700">
              <a:solidFill>
                <a:schemeClr val="tx2"/>
              </a:solidFill>
              <a:cs typeface="Calibri"/>
            </a:endParaRPr>
          </a:p>
        </p:txBody>
      </p:sp>
      <p:grpSp>
        <p:nvGrpSpPr>
          <p:cNvPr id="21" name="Group 20">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22" name="Freeform: Shape 21">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AD4E9F36-5503-0040-A01E-8F0A80833153}"/>
              </a:ext>
            </a:extLst>
          </p:cNvPr>
          <p:cNvPicPr>
            <a:picLocks noChangeAspect="1"/>
          </p:cNvPicPr>
          <p:nvPr/>
        </p:nvPicPr>
        <p:blipFill>
          <a:blip r:embed="rId3"/>
          <a:stretch>
            <a:fillRect/>
          </a:stretch>
        </p:blipFill>
        <p:spPr>
          <a:xfrm>
            <a:off x="7708392" y="2617036"/>
            <a:ext cx="4142232" cy="2547472"/>
          </a:xfrm>
          <a:prstGeom prst="rect">
            <a:avLst/>
          </a:prstGeom>
        </p:spPr>
      </p:pic>
    </p:spTree>
    <p:extLst>
      <p:ext uri="{BB962C8B-B14F-4D97-AF65-F5344CB8AC3E}">
        <p14:creationId xmlns:p14="http://schemas.microsoft.com/office/powerpoint/2010/main" val="1775124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A88D075-0DF3-C5FA-98AF-388A9A976C69}"/>
              </a:ext>
            </a:extLst>
          </p:cNvPr>
          <p:cNvSpPr>
            <a:spLocks noGrp="1"/>
          </p:cNvSpPr>
          <p:nvPr>
            <p:ph type="title"/>
          </p:nvPr>
        </p:nvSpPr>
        <p:spPr>
          <a:xfrm>
            <a:off x="1046746" y="586822"/>
            <a:ext cx="3560252" cy="1645920"/>
          </a:xfrm>
        </p:spPr>
        <p:txBody>
          <a:bodyPr>
            <a:normAutofit/>
          </a:bodyPr>
          <a:lstStyle/>
          <a:p>
            <a:r>
              <a:rPr lang="en-US" sz="3200" b="1">
                <a:cs typeface="Calibri Light"/>
              </a:rPr>
              <a:t>Libraries used</a:t>
            </a:r>
            <a:endParaRPr lang="en-US" sz="3200"/>
          </a:p>
        </p:txBody>
      </p:sp>
      <p:sp>
        <p:nvSpPr>
          <p:cNvPr id="15" name="Rectangle 14">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7" name="Rectangle 16">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Content Placeholder 7">
            <a:extLst>
              <a:ext uri="{FF2B5EF4-FFF2-40B4-BE49-F238E27FC236}">
                <a16:creationId xmlns:a16="http://schemas.microsoft.com/office/drawing/2014/main" id="{C63C2C3F-C431-3467-32D7-20F16ABB085E}"/>
              </a:ext>
            </a:extLst>
          </p:cNvPr>
          <p:cNvSpPr>
            <a:spLocks noGrp="1"/>
          </p:cNvSpPr>
          <p:nvPr>
            <p:ph idx="1"/>
          </p:nvPr>
        </p:nvSpPr>
        <p:spPr>
          <a:xfrm>
            <a:off x="5351164" y="586822"/>
            <a:ext cx="6002636" cy="1645920"/>
          </a:xfrm>
        </p:spPr>
        <p:txBody>
          <a:bodyPr anchor="ctr">
            <a:normAutofit/>
          </a:bodyPr>
          <a:lstStyle/>
          <a:p>
            <a:r>
              <a:rPr lang="en-US" sz="1800" dirty="0" err="1">
                <a:cs typeface="Calibri"/>
              </a:rPr>
              <a:t>Numpy</a:t>
            </a:r>
            <a:endParaRPr lang="en-US" sz="1800">
              <a:cs typeface="Calibri"/>
            </a:endParaRPr>
          </a:p>
          <a:p>
            <a:r>
              <a:rPr lang="en-US" sz="1800" dirty="0">
                <a:cs typeface="Calibri"/>
              </a:rPr>
              <a:t>Pandas</a:t>
            </a:r>
          </a:p>
          <a:p>
            <a:r>
              <a:rPr lang="en-US" sz="1800" dirty="0">
                <a:cs typeface="Calibri"/>
              </a:rPr>
              <a:t>Scikit-learn </a:t>
            </a:r>
          </a:p>
        </p:txBody>
      </p:sp>
      <p:pic>
        <p:nvPicPr>
          <p:cNvPr id="4" name="Content Placeholder 3" descr="A screen shot of a computer&#10;&#10;Description automatically generated">
            <a:extLst>
              <a:ext uri="{FF2B5EF4-FFF2-40B4-BE49-F238E27FC236}">
                <a16:creationId xmlns:a16="http://schemas.microsoft.com/office/drawing/2014/main" id="{B1144BCE-EF38-6EFC-60D7-2D6A0F372B4B}"/>
              </a:ext>
            </a:extLst>
          </p:cNvPr>
          <p:cNvPicPr>
            <a:picLocks noChangeAspect="1"/>
          </p:cNvPicPr>
          <p:nvPr/>
        </p:nvPicPr>
        <p:blipFill>
          <a:blip r:embed="rId2"/>
          <a:stretch>
            <a:fillRect/>
          </a:stretch>
        </p:blipFill>
        <p:spPr>
          <a:xfrm>
            <a:off x="557784" y="3125730"/>
            <a:ext cx="11164824" cy="2700516"/>
          </a:xfrm>
          <a:prstGeom prst="rect">
            <a:avLst/>
          </a:prstGeom>
        </p:spPr>
      </p:pic>
    </p:spTree>
    <p:extLst>
      <p:ext uri="{BB962C8B-B14F-4D97-AF65-F5344CB8AC3E}">
        <p14:creationId xmlns:p14="http://schemas.microsoft.com/office/powerpoint/2010/main" val="3425944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8B7F3-E3F7-7E97-4D7F-083DB33D28FC}"/>
              </a:ext>
            </a:extLst>
          </p:cNvPr>
          <p:cNvSpPr>
            <a:spLocks noGrp="1"/>
          </p:cNvSpPr>
          <p:nvPr>
            <p:ph type="title"/>
          </p:nvPr>
        </p:nvSpPr>
        <p:spPr/>
        <p:txBody>
          <a:bodyPr/>
          <a:lstStyle/>
          <a:p>
            <a:pPr algn="ctr"/>
            <a:r>
              <a:rPr lang="en-US" b="1" dirty="0">
                <a:cs typeface="Calibri Light"/>
              </a:rPr>
              <a:t>Uses of each libraries</a:t>
            </a:r>
            <a:endParaRPr lang="en-US" b="1">
              <a:cs typeface="Calibri Light"/>
            </a:endParaRPr>
          </a:p>
        </p:txBody>
      </p:sp>
      <p:sp>
        <p:nvSpPr>
          <p:cNvPr id="3" name="Content Placeholder 2">
            <a:extLst>
              <a:ext uri="{FF2B5EF4-FFF2-40B4-BE49-F238E27FC236}">
                <a16:creationId xmlns:a16="http://schemas.microsoft.com/office/drawing/2014/main" id="{C115D378-A36B-6F18-D7F0-9404D208E18C}"/>
              </a:ext>
            </a:extLst>
          </p:cNvPr>
          <p:cNvSpPr>
            <a:spLocks noGrp="1"/>
          </p:cNvSpPr>
          <p:nvPr>
            <p:ph idx="1"/>
          </p:nvPr>
        </p:nvSpPr>
        <p:spPr/>
        <p:txBody>
          <a:bodyPr vert="horz" lIns="91440" tIns="45720" rIns="91440" bIns="45720" rtlCol="0" anchor="t">
            <a:normAutofit fontScale="85000" lnSpcReduction="20000"/>
          </a:bodyPr>
          <a:lstStyle/>
          <a:p>
            <a:pPr>
              <a:buFont typeface="Arial"/>
            </a:pPr>
            <a:r>
              <a:rPr lang="en-US" dirty="0" err="1">
                <a:cs typeface="Calibri" panose="020F0502020204030204"/>
              </a:rPr>
              <a:t>Numpy</a:t>
            </a:r>
            <a:r>
              <a:rPr lang="en-US" dirty="0">
                <a:cs typeface="Calibri" panose="020F0502020204030204"/>
              </a:rPr>
              <a:t> is used to create </a:t>
            </a:r>
            <a:r>
              <a:rPr lang="en-US" dirty="0" err="1">
                <a:cs typeface="Calibri" panose="020F0502020204030204"/>
              </a:rPr>
              <a:t>Numpy</a:t>
            </a:r>
            <a:r>
              <a:rPr lang="en-US" dirty="0">
                <a:cs typeface="Calibri" panose="020F0502020204030204"/>
              </a:rPr>
              <a:t> arrays</a:t>
            </a:r>
            <a:endParaRPr lang="en-US" dirty="0"/>
          </a:p>
          <a:p>
            <a:pPr>
              <a:buFont typeface="Arial"/>
            </a:pPr>
            <a:r>
              <a:rPr lang="en-US" dirty="0">
                <a:cs typeface="Calibri" panose="020F0502020204030204"/>
              </a:rPr>
              <a:t>Pandas is used to create </a:t>
            </a:r>
            <a:r>
              <a:rPr lang="en-US" dirty="0" err="1">
                <a:cs typeface="Calibri" panose="020F0502020204030204"/>
              </a:rPr>
              <a:t>dataframes</a:t>
            </a:r>
            <a:endParaRPr lang="en-US" dirty="0">
              <a:cs typeface="Calibri" panose="020F0502020204030204"/>
            </a:endParaRPr>
          </a:p>
          <a:p>
            <a:pPr>
              <a:buFont typeface="Arial"/>
            </a:pPr>
            <a:r>
              <a:rPr lang="en-US" dirty="0">
                <a:solidFill>
                  <a:srgbClr val="000000"/>
                </a:solidFill>
                <a:ea typeface="+mn-lt"/>
                <a:cs typeface="+mn-lt"/>
              </a:rPr>
              <a:t>Scikit-learn is an open-source Python library that implements a range of machine learning, pre-processing, cross-validation, and visualization algorithms using a unified interface.</a:t>
            </a:r>
            <a:endParaRPr lang="en-US" dirty="0">
              <a:solidFill>
                <a:srgbClr val="000000"/>
              </a:solidFill>
              <a:cs typeface="Calibri" panose="020F0502020204030204"/>
            </a:endParaRPr>
          </a:p>
          <a:p>
            <a:pPr>
              <a:buFont typeface="Arial"/>
            </a:pPr>
            <a:r>
              <a:rPr lang="en-US" b="1" dirty="0">
                <a:cs typeface="Calibri" panose="020F0502020204030204"/>
              </a:rPr>
              <a:t>from </a:t>
            </a:r>
            <a:r>
              <a:rPr lang="en-US" b="1" err="1">
                <a:cs typeface="Calibri" panose="020F0502020204030204"/>
              </a:rPr>
              <a:t>sklearn.model_selection</a:t>
            </a:r>
            <a:r>
              <a:rPr lang="en-US" b="1" dirty="0">
                <a:cs typeface="Calibri" panose="020F0502020204030204"/>
              </a:rPr>
              <a:t> import </a:t>
            </a:r>
            <a:r>
              <a:rPr lang="en-US" b="1" err="1">
                <a:cs typeface="Calibri" panose="020F0502020204030204"/>
              </a:rPr>
              <a:t>train_test_split</a:t>
            </a:r>
            <a:r>
              <a:rPr lang="en-US">
                <a:cs typeface="Calibri" panose="020F0502020204030204"/>
              </a:rPr>
              <a:t> is used to split our data into training and testing data</a:t>
            </a:r>
          </a:p>
          <a:p>
            <a:pPr>
              <a:buFont typeface="Arial"/>
            </a:pPr>
            <a:r>
              <a:rPr lang="en-US" b="1" dirty="0">
                <a:cs typeface="Calibri" panose="020F0502020204030204"/>
              </a:rPr>
              <a:t>from </a:t>
            </a:r>
            <a:r>
              <a:rPr lang="en-US" b="1" err="1">
                <a:cs typeface="Calibri" panose="020F0502020204030204"/>
              </a:rPr>
              <a:t>sklearn.feature_extraction.text</a:t>
            </a:r>
            <a:r>
              <a:rPr lang="en-US" b="1" dirty="0">
                <a:cs typeface="Calibri" panose="020F0502020204030204"/>
              </a:rPr>
              <a:t> import </a:t>
            </a:r>
            <a:r>
              <a:rPr lang="en-US" b="1" err="1">
                <a:cs typeface="Calibri" panose="020F0502020204030204"/>
              </a:rPr>
              <a:t>TfidfVectorizer</a:t>
            </a:r>
            <a:r>
              <a:rPr lang="en-US" b="1" dirty="0">
                <a:cs typeface="Calibri" panose="020F0502020204030204"/>
              </a:rPr>
              <a:t> </a:t>
            </a:r>
            <a:r>
              <a:rPr lang="en-US" dirty="0">
                <a:cs typeface="Calibri" panose="020F0502020204030204"/>
              </a:rPr>
              <a:t>is used to convert text (mail) data into numerical value so that our model can understand it</a:t>
            </a:r>
          </a:p>
          <a:p>
            <a:pPr>
              <a:buFont typeface="Arial"/>
            </a:pPr>
            <a:r>
              <a:rPr lang="en-US" b="1" dirty="0">
                <a:cs typeface="Calibri" panose="020F0502020204030204"/>
              </a:rPr>
              <a:t>from </a:t>
            </a:r>
            <a:r>
              <a:rPr lang="en-US" b="1" err="1">
                <a:cs typeface="Calibri" panose="020F0502020204030204"/>
              </a:rPr>
              <a:t>sklearn.linear_model</a:t>
            </a:r>
            <a:r>
              <a:rPr lang="en-US" b="1" dirty="0">
                <a:cs typeface="Calibri" panose="020F0502020204030204"/>
              </a:rPr>
              <a:t> import </a:t>
            </a:r>
            <a:r>
              <a:rPr lang="en-US" b="1" err="1">
                <a:cs typeface="Calibri" panose="020F0502020204030204"/>
              </a:rPr>
              <a:t>LogisticRegression</a:t>
            </a:r>
            <a:r>
              <a:rPr lang="en-US" dirty="0">
                <a:cs typeface="Calibri" panose="020F0502020204030204"/>
              </a:rPr>
              <a:t> to build logistic regression</a:t>
            </a:r>
            <a:endParaRPr lang="en-US" dirty="0"/>
          </a:p>
          <a:p>
            <a:pPr>
              <a:buFont typeface="Arial"/>
            </a:pPr>
            <a:r>
              <a:rPr lang="en-US" b="1" dirty="0">
                <a:cs typeface="Calibri" panose="020F0502020204030204"/>
              </a:rPr>
              <a:t>from </a:t>
            </a:r>
            <a:r>
              <a:rPr lang="en-US" b="1" dirty="0" err="1">
                <a:cs typeface="Calibri" panose="020F0502020204030204"/>
              </a:rPr>
              <a:t>sklearn.metrics</a:t>
            </a:r>
            <a:r>
              <a:rPr lang="en-US" b="1" dirty="0">
                <a:cs typeface="Calibri" panose="020F0502020204030204"/>
              </a:rPr>
              <a:t> import </a:t>
            </a:r>
            <a:r>
              <a:rPr lang="en-US" b="1" dirty="0" err="1">
                <a:cs typeface="Calibri" panose="020F0502020204030204"/>
              </a:rPr>
              <a:t>accuracy_score</a:t>
            </a:r>
            <a:r>
              <a:rPr lang="en-US" dirty="0">
                <a:cs typeface="Calibri" panose="020F0502020204030204"/>
              </a:rPr>
              <a:t> is used to find out model good our model is making predictions.</a:t>
            </a:r>
          </a:p>
          <a:p>
            <a:pPr>
              <a:buFont typeface="Arial"/>
            </a:pPr>
            <a:endParaRPr lang="en-US" dirty="0">
              <a:cs typeface="Calibri" panose="020F0502020204030204"/>
            </a:endParaRPr>
          </a:p>
          <a:p>
            <a:pPr>
              <a:buFont typeface="Arial"/>
            </a:pPr>
            <a:endParaRPr lang="en-US" dirty="0">
              <a:cs typeface="Calibri" panose="020F0502020204030204"/>
            </a:endParaRPr>
          </a:p>
        </p:txBody>
      </p:sp>
    </p:spTree>
    <p:extLst>
      <p:ext uri="{BB962C8B-B14F-4D97-AF65-F5344CB8AC3E}">
        <p14:creationId xmlns:p14="http://schemas.microsoft.com/office/powerpoint/2010/main" val="720150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8320C-343E-EAD7-00B5-4F92F7A716A6}"/>
              </a:ext>
            </a:extLst>
          </p:cNvPr>
          <p:cNvSpPr>
            <a:spLocks noGrp="1"/>
          </p:cNvSpPr>
          <p:nvPr>
            <p:ph type="title"/>
          </p:nvPr>
        </p:nvSpPr>
        <p:spPr/>
        <p:txBody>
          <a:bodyPr/>
          <a:lstStyle/>
          <a:p>
            <a:pPr algn="ctr"/>
            <a:br>
              <a:rPr lang="en-US" dirty="0">
                <a:latin typeface="Calibri Light"/>
                <a:cs typeface="Calibri Light"/>
              </a:rPr>
            </a:br>
            <a:r>
              <a:rPr lang="en-US" dirty="0">
                <a:latin typeface="Calibri Light"/>
                <a:cs typeface="Calibri Light"/>
              </a:rPr>
              <a:t>How spam emails looks in Gmail</a:t>
            </a:r>
            <a:endParaRPr lang="en-US"/>
          </a:p>
          <a:p>
            <a:pPr algn="ctr"/>
            <a:endParaRPr lang="en-US" dirty="0">
              <a:cs typeface="Calibri Light"/>
            </a:endParaRPr>
          </a:p>
        </p:txBody>
      </p:sp>
      <p:pic>
        <p:nvPicPr>
          <p:cNvPr id="4" name="Content Placeholder 3" descr="A black and white text on a black background&#10;&#10;Description automatically generated">
            <a:extLst>
              <a:ext uri="{FF2B5EF4-FFF2-40B4-BE49-F238E27FC236}">
                <a16:creationId xmlns:a16="http://schemas.microsoft.com/office/drawing/2014/main" id="{4B8A8C10-2A36-8FEF-8B74-2EF354499FFB}"/>
              </a:ext>
            </a:extLst>
          </p:cNvPr>
          <p:cNvPicPr>
            <a:picLocks noGrp="1" noChangeAspect="1"/>
          </p:cNvPicPr>
          <p:nvPr>
            <p:ph idx="1"/>
          </p:nvPr>
        </p:nvPicPr>
        <p:blipFill>
          <a:blip r:embed="rId2"/>
          <a:stretch>
            <a:fillRect/>
          </a:stretch>
        </p:blipFill>
        <p:spPr>
          <a:xfrm>
            <a:off x="645352" y="1626685"/>
            <a:ext cx="11223267" cy="4867274"/>
          </a:xfrm>
        </p:spPr>
      </p:pic>
    </p:spTree>
    <p:extLst>
      <p:ext uri="{BB962C8B-B14F-4D97-AF65-F5344CB8AC3E}">
        <p14:creationId xmlns:p14="http://schemas.microsoft.com/office/powerpoint/2010/main" val="3957780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72B07-BADC-86B4-1FC3-F3F0A7844FDB}"/>
              </a:ext>
            </a:extLst>
          </p:cNvPr>
          <p:cNvSpPr>
            <a:spLocks noGrp="1"/>
          </p:cNvSpPr>
          <p:nvPr>
            <p:ph type="title"/>
          </p:nvPr>
        </p:nvSpPr>
        <p:spPr/>
        <p:txBody>
          <a:bodyPr/>
          <a:lstStyle/>
          <a:p>
            <a:pPr algn="ctr"/>
            <a:r>
              <a:rPr lang="en-US" b="1" dirty="0">
                <a:cs typeface="Calibri Light"/>
              </a:rPr>
              <a:t>Few Snapshots</a:t>
            </a:r>
            <a:endParaRPr lang="en-US" dirty="0"/>
          </a:p>
        </p:txBody>
      </p:sp>
      <p:pic>
        <p:nvPicPr>
          <p:cNvPr id="4" name="Content Placeholder 3" descr="A screenshot of a computer&#10;&#10;Description automatically generated">
            <a:extLst>
              <a:ext uri="{FF2B5EF4-FFF2-40B4-BE49-F238E27FC236}">
                <a16:creationId xmlns:a16="http://schemas.microsoft.com/office/drawing/2014/main" id="{017C548E-64A9-AA52-7358-69C55C972E41}"/>
              </a:ext>
            </a:extLst>
          </p:cNvPr>
          <p:cNvPicPr>
            <a:picLocks noGrp="1" noChangeAspect="1"/>
          </p:cNvPicPr>
          <p:nvPr>
            <p:ph idx="1"/>
          </p:nvPr>
        </p:nvPicPr>
        <p:blipFill>
          <a:blip r:embed="rId2"/>
          <a:stretch>
            <a:fillRect/>
          </a:stretch>
        </p:blipFill>
        <p:spPr>
          <a:xfrm>
            <a:off x="1305793" y="1825625"/>
            <a:ext cx="9580414" cy="4351338"/>
          </a:xfrm>
        </p:spPr>
      </p:pic>
    </p:spTree>
    <p:extLst>
      <p:ext uri="{BB962C8B-B14F-4D97-AF65-F5344CB8AC3E}">
        <p14:creationId xmlns:p14="http://schemas.microsoft.com/office/powerpoint/2010/main" val="569432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screenshot of a computer program&#10;&#10;Description automatically generated">
            <a:extLst>
              <a:ext uri="{FF2B5EF4-FFF2-40B4-BE49-F238E27FC236}">
                <a16:creationId xmlns:a16="http://schemas.microsoft.com/office/drawing/2014/main" id="{2886DEAD-29A5-8786-85AE-7C21D03787A3}"/>
              </a:ext>
            </a:extLst>
          </p:cNvPr>
          <p:cNvPicPr>
            <a:picLocks noChangeAspect="1"/>
          </p:cNvPicPr>
          <p:nvPr/>
        </p:nvPicPr>
        <p:blipFill>
          <a:blip r:embed="rId2"/>
          <a:stretch>
            <a:fillRect/>
          </a:stretch>
        </p:blipFill>
        <p:spPr>
          <a:xfrm>
            <a:off x="2957372" y="643467"/>
            <a:ext cx="6277256" cy="5571065"/>
          </a:xfrm>
          <a:prstGeom prst="rect">
            <a:avLst/>
          </a:prstGeom>
          <a:ln>
            <a:noFill/>
          </a:ln>
        </p:spPr>
      </p:pic>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1433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6" name="Rectangle 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DEA763-FB37-5CC6-DB13-307BDF2CA49C}"/>
              </a:ext>
            </a:extLst>
          </p:cNvPr>
          <p:cNvSpPr>
            <a:spLocks noGrp="1"/>
          </p:cNvSpPr>
          <p:nvPr>
            <p:ph type="title"/>
          </p:nvPr>
        </p:nvSpPr>
        <p:spPr>
          <a:xfrm>
            <a:off x="1043631" y="809898"/>
            <a:ext cx="9942716" cy="1554480"/>
          </a:xfrm>
        </p:spPr>
        <p:txBody>
          <a:bodyPr anchor="ctr">
            <a:normAutofit/>
          </a:bodyPr>
          <a:lstStyle/>
          <a:p>
            <a:r>
              <a:rPr lang="en-US" sz="4800" b="1">
                <a:latin typeface="Calibri Light"/>
                <a:ea typeface="Cambria"/>
                <a:cs typeface="Calibri Light"/>
              </a:rPr>
              <a:t>Results</a:t>
            </a:r>
            <a:endParaRPr lang="en-US" sz="4800" b="1">
              <a:cs typeface="Calibri Light"/>
            </a:endParaRPr>
          </a:p>
        </p:txBody>
      </p:sp>
      <p:sp>
        <p:nvSpPr>
          <p:cNvPr id="3" name="Content Placeholder 2">
            <a:extLst>
              <a:ext uri="{FF2B5EF4-FFF2-40B4-BE49-F238E27FC236}">
                <a16:creationId xmlns:a16="http://schemas.microsoft.com/office/drawing/2014/main" id="{B9E028D0-B000-04E4-DB26-3B325DD48C29}"/>
              </a:ext>
            </a:extLst>
          </p:cNvPr>
          <p:cNvSpPr>
            <a:spLocks noGrp="1"/>
          </p:cNvSpPr>
          <p:nvPr>
            <p:ph idx="1"/>
          </p:nvPr>
        </p:nvSpPr>
        <p:spPr>
          <a:xfrm>
            <a:off x="1045028" y="3017522"/>
            <a:ext cx="9941319" cy="3124658"/>
          </a:xfrm>
        </p:spPr>
        <p:txBody>
          <a:bodyPr vert="horz" lIns="91440" tIns="45720" rIns="91440" bIns="45720" rtlCol="0" anchor="ctr">
            <a:noAutofit/>
          </a:bodyPr>
          <a:lstStyle/>
          <a:p>
            <a:pPr marL="0" indent="0">
              <a:buNone/>
            </a:pPr>
            <a:r>
              <a:rPr lang="en-US" sz="1600" dirty="0">
                <a:ea typeface="+mn-lt"/>
                <a:cs typeface="+mn-lt"/>
              </a:rPr>
              <a:t>Machine learning-based spam detection has proven to be a more effective and adaptable approach compared to traditional rule-based systems. It offers improved accuracy, precision, and robustness while demonstrating real-world applicability.</a:t>
            </a:r>
            <a:endParaRPr lang="en-US" sz="1600" dirty="0">
              <a:cs typeface="Calibri" panose="020F0502020204030204"/>
            </a:endParaRPr>
          </a:p>
          <a:p>
            <a:pPr marL="0" indent="0">
              <a:buNone/>
            </a:pPr>
            <a:endParaRPr lang="en-US" sz="1600" dirty="0">
              <a:cs typeface="Calibri" panose="020F0502020204030204"/>
            </a:endParaRPr>
          </a:p>
          <a:p>
            <a:r>
              <a:rPr lang="en-US" sz="1600" dirty="0">
                <a:ea typeface="+mn-lt"/>
                <a:cs typeface="+mn-lt"/>
              </a:rPr>
              <a:t>Machine learning algorithms excel in identifying spam emails with greater accuracy and precision.</a:t>
            </a:r>
            <a:endParaRPr lang="en-US" sz="1600" dirty="0">
              <a:cs typeface="Calibri"/>
            </a:endParaRPr>
          </a:p>
          <a:p>
            <a:r>
              <a:rPr lang="en-US" sz="1600" dirty="0">
                <a:ea typeface="+mn-lt"/>
                <a:cs typeface="+mn-lt"/>
              </a:rPr>
              <a:t>The proposed system exhibits resilience against adversarial attacks and maintains performance under challenging conditions.</a:t>
            </a:r>
            <a:endParaRPr lang="en-US" sz="1600" dirty="0">
              <a:cs typeface="Calibri"/>
            </a:endParaRPr>
          </a:p>
          <a:p>
            <a:r>
              <a:rPr lang="en-US" sz="1600" dirty="0">
                <a:ea typeface="+mn-lt"/>
                <a:cs typeface="+mn-lt"/>
              </a:rPr>
              <a:t>Real-world deployment scenarios validate the system's scalability, resource efficiency, and low-latency processing.</a:t>
            </a:r>
            <a:endParaRPr lang="en-US" sz="1600" dirty="0">
              <a:cs typeface="Calibri"/>
            </a:endParaRPr>
          </a:p>
          <a:p>
            <a:r>
              <a:rPr lang="en-US" sz="1600" dirty="0">
                <a:ea typeface="+mn-lt"/>
                <a:cs typeface="+mn-lt"/>
              </a:rPr>
              <a:t>Machine learning-based spam detection outperforms rule-based systems in terms of adaptability, scalability, and accuracy.</a:t>
            </a:r>
            <a:endParaRPr lang="en-US" sz="1600" dirty="0">
              <a:cs typeface="Calibri"/>
            </a:endParaRPr>
          </a:p>
          <a:p>
            <a:r>
              <a:rPr lang="en-US" sz="1600" dirty="0">
                <a:ea typeface="+mn-lt"/>
                <a:cs typeface="+mn-lt"/>
              </a:rPr>
              <a:t>User-centric adaptation through feedback mechanisms ensures personalized and effective spam filtering.</a:t>
            </a:r>
            <a:endParaRPr lang="en-US" sz="1600" dirty="0">
              <a:cs typeface="Calibri"/>
            </a:endParaRPr>
          </a:p>
          <a:p>
            <a:r>
              <a:rPr lang="en-US" sz="1600" dirty="0">
                <a:ea typeface="+mn-lt"/>
                <a:cs typeface="+mn-lt"/>
              </a:rPr>
              <a:t>Ethical considerations and privacy compliance are prioritized to safeguard user trust and data protection.</a:t>
            </a:r>
            <a:endParaRPr lang="en-US" sz="1600" dirty="0">
              <a:cs typeface="Calibri"/>
            </a:endParaRPr>
          </a:p>
          <a:p>
            <a:endParaRPr lang="en-US" sz="1600" dirty="0">
              <a:cs typeface="Calibri"/>
            </a:endParaRP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206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c 17">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F6D7934-1B93-ABC5-9CD6-2D8FF5DCAC86}"/>
              </a:ext>
            </a:extLst>
          </p:cNvPr>
          <p:cNvSpPr>
            <a:spLocks noGrp="1"/>
          </p:cNvSpPr>
          <p:nvPr>
            <p:ph type="title"/>
          </p:nvPr>
        </p:nvSpPr>
        <p:spPr>
          <a:xfrm>
            <a:off x="838200" y="365125"/>
            <a:ext cx="10515600" cy="1325563"/>
          </a:xfrm>
        </p:spPr>
        <p:txBody>
          <a:bodyPr>
            <a:normAutofit/>
          </a:bodyPr>
          <a:lstStyle/>
          <a:p>
            <a:pPr algn="ctr"/>
            <a:r>
              <a:rPr lang="en-US" dirty="0">
                <a:latin typeface="Calibri Light"/>
                <a:ea typeface="Cambria"/>
                <a:cs typeface="Calibri Light"/>
              </a:rPr>
              <a:t>Implications and Future Directions</a:t>
            </a:r>
            <a:endParaRPr lang="en-US"/>
          </a:p>
        </p:txBody>
      </p:sp>
      <p:graphicFrame>
        <p:nvGraphicFramePr>
          <p:cNvPr id="19" name="Content Placeholder 2">
            <a:extLst>
              <a:ext uri="{FF2B5EF4-FFF2-40B4-BE49-F238E27FC236}">
                <a16:creationId xmlns:a16="http://schemas.microsoft.com/office/drawing/2014/main" id="{289EA20F-36AC-063E-29E0-9EC64AA85CB3}"/>
              </a:ext>
            </a:extLst>
          </p:cNvPr>
          <p:cNvGraphicFramePr>
            <a:graphicFrameLocks noGrp="1"/>
          </p:cNvGraphicFramePr>
          <p:nvPr>
            <p:ph idx="1"/>
            <p:extLst>
              <p:ext uri="{D42A27DB-BD31-4B8C-83A1-F6EECF244321}">
                <p14:modId xmlns:p14="http://schemas.microsoft.com/office/powerpoint/2010/main" val="275512122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60703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89BB1B-D621-A7BF-E419-80DB3A50D902}"/>
              </a:ext>
            </a:extLst>
          </p:cNvPr>
          <p:cNvSpPr>
            <a:spLocks noGrp="1"/>
          </p:cNvSpPr>
          <p:nvPr>
            <p:ph type="title"/>
          </p:nvPr>
        </p:nvSpPr>
        <p:spPr>
          <a:xfrm>
            <a:off x="686834" y="1153572"/>
            <a:ext cx="3200400" cy="4461163"/>
          </a:xfrm>
        </p:spPr>
        <p:txBody>
          <a:bodyPr>
            <a:normAutofit/>
          </a:bodyPr>
          <a:lstStyle/>
          <a:p>
            <a:r>
              <a:rPr lang="en-US">
                <a:solidFill>
                  <a:srgbClr val="FFFFFF"/>
                </a:solidFill>
                <a:latin typeface="Calibri Light"/>
                <a:ea typeface="Cambria"/>
                <a:cs typeface="Calibri Light"/>
              </a:rPr>
              <a:t>Conclusion Summary</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F28D57C-6507-9218-2303-0A4732F8AD58}"/>
              </a:ext>
            </a:extLst>
          </p:cNvPr>
          <p:cNvSpPr>
            <a:spLocks noGrp="1"/>
          </p:cNvSpPr>
          <p:nvPr>
            <p:ph idx="1"/>
          </p:nvPr>
        </p:nvSpPr>
        <p:spPr>
          <a:xfrm>
            <a:off x="4447308" y="591344"/>
            <a:ext cx="6906491" cy="5585619"/>
          </a:xfrm>
        </p:spPr>
        <p:txBody>
          <a:bodyPr vert="horz" lIns="91440" tIns="45720" rIns="91440" bIns="45720" rtlCol="0" anchor="ctr">
            <a:normAutofit/>
          </a:bodyPr>
          <a:lstStyle/>
          <a:p>
            <a:pPr marL="0" indent="0">
              <a:buNone/>
            </a:pPr>
            <a:r>
              <a:rPr lang="en-US" dirty="0">
                <a:latin typeface="Calibri"/>
                <a:ea typeface="Cambria"/>
                <a:cs typeface="Calibri"/>
              </a:rPr>
              <a:t>In conclusion, our research not only advances the field of spam detection but also provides a practical and user-centric solution for organizations and individuals seeking robust email security. The successful outcomes, key findings, and contributions presented in this section pave the way for continued advancements in machine learning-driven email security. The subsequent pages will delve into a more granular analysis of specific findings, discuss the limitations of the research, and outline potential avenues for further exploration in the realm of machine learning-based spam detection.</a:t>
            </a:r>
          </a:p>
          <a:p>
            <a:endParaRPr lang="en-US" dirty="0">
              <a:latin typeface="Calibri"/>
              <a:ea typeface="Cambria"/>
              <a:cs typeface="Calibri"/>
            </a:endParaRPr>
          </a:p>
          <a:p>
            <a:endParaRPr lang="en-US" dirty="0">
              <a:cs typeface="Calibri"/>
            </a:endParaRPr>
          </a:p>
        </p:txBody>
      </p:sp>
    </p:spTree>
    <p:extLst>
      <p:ext uri="{BB962C8B-B14F-4D97-AF65-F5344CB8AC3E}">
        <p14:creationId xmlns:p14="http://schemas.microsoft.com/office/powerpoint/2010/main" val="1346773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E6413A-584D-F71B-7060-48EB5E19A6DA}"/>
              </a:ext>
            </a:extLst>
          </p:cNvPr>
          <p:cNvSpPr>
            <a:spLocks noGrp="1"/>
          </p:cNvSpPr>
          <p:nvPr>
            <p:ph type="title"/>
          </p:nvPr>
        </p:nvSpPr>
        <p:spPr>
          <a:xfrm>
            <a:off x="838200" y="365125"/>
            <a:ext cx="5558489" cy="1325563"/>
          </a:xfrm>
        </p:spPr>
        <p:txBody>
          <a:bodyPr>
            <a:normAutofit/>
          </a:bodyPr>
          <a:lstStyle/>
          <a:p>
            <a:r>
              <a:rPr lang="en-US" dirty="0">
                <a:cs typeface="Calibri Light"/>
              </a:rPr>
              <a:t>Thank You</a:t>
            </a:r>
          </a:p>
        </p:txBody>
      </p:sp>
      <p:sp>
        <p:nvSpPr>
          <p:cNvPr id="17" name="Freeform: Shape 16">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432CA56-ED53-E819-3797-467B51B93227}"/>
              </a:ext>
            </a:extLst>
          </p:cNvPr>
          <p:cNvSpPr>
            <a:spLocks noGrp="1"/>
          </p:cNvSpPr>
          <p:nvPr>
            <p:ph idx="1"/>
          </p:nvPr>
        </p:nvSpPr>
        <p:spPr>
          <a:xfrm>
            <a:off x="838200" y="1825625"/>
            <a:ext cx="5558489" cy="4351338"/>
          </a:xfrm>
        </p:spPr>
        <p:txBody>
          <a:bodyPr vert="horz" lIns="91440" tIns="45720" rIns="91440" bIns="45720" rtlCol="0">
            <a:normAutofit/>
          </a:bodyPr>
          <a:lstStyle/>
          <a:p>
            <a:pPr marL="0" indent="0">
              <a:buNone/>
            </a:pPr>
            <a:r>
              <a:rPr lang="en-US">
                <a:cs typeface="Calibri" panose="020F0502020204030204"/>
              </a:rPr>
              <a:t>Submitted by:-</a:t>
            </a:r>
          </a:p>
          <a:p>
            <a:pPr marL="0" indent="0">
              <a:buNone/>
            </a:pPr>
            <a:r>
              <a:rPr lang="en-US">
                <a:cs typeface="Calibri" panose="020F0502020204030204"/>
              </a:rPr>
              <a:t>Ayush Prem (23BCS10452)</a:t>
            </a:r>
          </a:p>
          <a:p>
            <a:pPr marL="0" indent="0">
              <a:buNone/>
            </a:pPr>
            <a:r>
              <a:rPr lang="en-US">
                <a:cs typeface="Calibri" panose="020F0502020204030204"/>
              </a:rPr>
              <a:t>Pranjal Verma (23BCS11470)</a:t>
            </a:r>
          </a:p>
          <a:p>
            <a:pPr marL="0" indent="0">
              <a:buNone/>
            </a:pPr>
            <a:r>
              <a:rPr lang="en-US">
                <a:cs typeface="Calibri" panose="020F0502020204030204"/>
              </a:rPr>
              <a:t>Priyanka (23BCS10834)</a:t>
            </a:r>
          </a:p>
          <a:p>
            <a:pPr marL="0" indent="0">
              <a:buNone/>
            </a:pPr>
            <a:r>
              <a:rPr lang="en-US">
                <a:cs typeface="Calibri" panose="020F0502020204030204"/>
              </a:rPr>
              <a:t>Asha Ravesh (23BCS10657)</a:t>
            </a:r>
          </a:p>
          <a:p>
            <a:pPr marL="0" indent="0">
              <a:buNone/>
            </a:pPr>
            <a:r>
              <a:rPr lang="en-US">
                <a:cs typeface="Calibri" panose="020F0502020204030204"/>
              </a:rPr>
              <a:t>Sejal Wadhwa (23BCS10668)</a:t>
            </a:r>
          </a:p>
          <a:p>
            <a:pPr marL="0" indent="0">
              <a:buNone/>
            </a:pPr>
            <a:endParaRPr lang="en-US" dirty="0">
              <a:cs typeface="Calibri" panose="020F0502020204030204"/>
            </a:endParaRPr>
          </a:p>
        </p:txBody>
      </p:sp>
      <p:sp>
        <p:nvSpPr>
          <p:cNvPr id="19" name="Oval 18">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770336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 Disruptive Technologies-I  Submitted to:- Dr. Shonak Bansal (E10103)  </vt:lpstr>
      <vt:lpstr>Certificate</vt:lpstr>
      <vt:lpstr>Acknowledgement </vt:lpstr>
      <vt:lpstr>Introduction</vt:lpstr>
      <vt:lpstr> What is spam email and ham email? </vt:lpstr>
      <vt:lpstr> Key features of Spam mail predictor </vt:lpstr>
      <vt:lpstr>   Workflow of email spam classifier   </vt:lpstr>
      <vt:lpstr>Benefits of Machine Learning in Spam Detection</vt:lpstr>
      <vt:lpstr> Benefits of Machine Learning in Spam Detection contd... </vt:lpstr>
      <vt:lpstr>Software used</vt:lpstr>
      <vt:lpstr>Libraries used</vt:lpstr>
      <vt:lpstr>Uses of each libraries</vt:lpstr>
      <vt:lpstr> How spam emails looks in Gmail </vt:lpstr>
      <vt:lpstr>Few Snapshots</vt:lpstr>
      <vt:lpstr>PowerPoint Presentation</vt:lpstr>
      <vt:lpstr>Results</vt:lpstr>
      <vt:lpstr>Implications and Future Directions</vt:lpstr>
      <vt:lpstr>Conclusion 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449</cp:revision>
  <dcterms:created xsi:type="dcterms:W3CDTF">2013-07-15T20:26:40Z</dcterms:created>
  <dcterms:modified xsi:type="dcterms:W3CDTF">2023-11-24T16:07:37Z</dcterms:modified>
</cp:coreProperties>
</file>